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5" r:id="rId17"/>
    <p:sldId id="260" r:id="rId10"/>
    <p:sldId id="266" r:id="rId18"/>
    <p:sldId id="261" r:id="rId11"/>
    <p:sldId id="267" r:id="rId19"/>
    <p:sldId id="262" r:id="rId12"/>
    <p:sldId id="263" r:id="rId13"/>
    <p:sldId id="264" r:id="rId14"/>
  </p:sldIdLst>
  <p:sldSz cy="6858000" cx="12191675"/>
  <p:notesSz cx="6858000" cy="9144000"/>
  <p:embeddedFontLst>
    <p:embeddedFont>
      <p:font typeface="Vazirmatn"/>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font" Target="fonts/Vazirmatn-regular.fntdata"/><Relationship Id="rId16" Type="http://schemas.openxmlformats.org/officeDocument/2006/relationships/font" Target="fonts/Vazirmatn-bold.fntdata"/><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[زمان: ۰:۰۰ تا ۱:۰۰ - ارائه‌دهنده ۱]</a:t>
            </a:r>
            <a:endParaRPr/>
          </a:p>
          <a:p>
            <a:pPr indent="0" lvl="0" marL="0" rtl="0" algn="l">
              <a:spcBef>
                <a:spcPts val="0"/>
              </a:spcBef>
              <a:spcAft>
                <a:spcPts val="0"/>
              </a:spcAft>
              <a:buNone/>
            </a:pPr>
            <a:r>
              <a:rPr lang="en-US"/>
              <a:t>متن گفتار:</a:t>
            </a:r>
            <a:endParaRPr/>
          </a:p>
          <a:p>
            <a:pPr indent="0" lvl="0" marL="0" rtl="0" algn="l">
              <a:spcBef>
                <a:spcPts val="0"/>
              </a:spcBef>
              <a:spcAft>
                <a:spcPts val="0"/>
              </a:spcAft>
              <a:buNone/>
            </a:pPr>
            <a:r>
              <a:rPr lang="en-US"/>
              <a:t>به نام خدا. با سلام و احترام خدمت اساتید و داوران گرامی.</a:t>
            </a:r>
            <a:endParaRPr/>
          </a:p>
          <a:p>
            <a:pPr indent="0" lvl="0" marL="0" rtl="0" algn="l">
              <a:spcBef>
                <a:spcPts val="0"/>
              </a:spcBef>
              <a:spcAft>
                <a:spcPts val="0"/>
              </a:spcAft>
              <a:buNone/>
            </a:pPr>
            <a:r>
              <a:rPr lang="en-US"/>
              <a:t>من به همراه هم‌تیمی عزیزم، امروز پروژه پایانی‌مان با عنوان «بوکده (Bookkadeh)» را خدمت شما ارائه می‌دهیم.</a:t>
            </a:r>
            <a:endParaRPr/>
          </a:p>
          <a:p>
            <a:pPr indent="0" lvl="0" marL="0" rtl="0" algn="l">
              <a:spcBef>
                <a:spcPts val="0"/>
              </a:spcBef>
              <a:spcAft>
                <a:spcPts val="0"/>
              </a:spcAft>
              <a:buNone/>
            </a:pPr>
            <a:r>
              <a:rPr lang="en-US"/>
              <a:t>بوکده یک پلتفرم سازمانی دوزبانه فروش کتاب، اشتراک VIP و مدیریت انتشارات است که با استانداردهای مدرن وب، Clean Architecture و کارایی بالا مهندسی شده است.</a:t>
            </a:r>
            <a:endParaRPr/>
          </a:p>
          <a:p>
            <a:pPr indent="0" lvl="0" marL="0" rtl="0" algn="l">
              <a:spcBef>
                <a:spcPts val="0"/>
              </a:spcBef>
              <a:spcAft>
                <a:spcPts val="0"/>
              </a:spcAft>
              <a:buNone/>
            </a:pPr>
            <a:r>
              <a:rPr lang="en-US"/>
              <a:t>در ۱۵ دقیقه آینده، معماری سیستم را بررسی کرده و سپس در ۳ مرحله، کارکرد زنده سامانه را در مرورگر تست و مشاهده خواهیم کرد.</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aa3e2b513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aa3e2b51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[زمان: ۱:۰۰ تا ۲:۱۵ - ارائه‌دهنده ۱]</a:t>
            </a:r>
            <a:endParaRPr/>
          </a:p>
          <a:p>
            <a:pPr indent="0" lvl="0" marL="0" rtl="0" algn="l">
              <a:spcBef>
                <a:spcPts val="0"/>
              </a:spcBef>
              <a:spcAft>
                <a:spcPts val="0"/>
              </a:spcAft>
              <a:buNone/>
            </a:pPr>
            <a:r>
              <a:rPr lang="en-US"/>
              <a:t>متن گفتار:</a:t>
            </a:r>
            <a:endParaRPr/>
          </a:p>
          <a:p>
            <a:pPr indent="0" lvl="0" marL="0" rtl="0" algn="l">
              <a:spcBef>
                <a:spcPts val="0"/>
              </a:spcBef>
              <a:spcAft>
                <a:spcPts val="0"/>
              </a:spcAft>
              <a:buNone/>
            </a:pPr>
            <a:r>
              <a:rPr lang="en-US"/>
              <a:t>در بررسی سامانه‌های فعلی فروش کتاب، ۳ چالش اصلی وجود داشت:</a:t>
            </a:r>
            <a:endParaRPr/>
          </a:p>
          <a:p>
            <a:pPr indent="0" lvl="0" marL="0" rtl="0" algn="l">
              <a:spcBef>
                <a:spcPts val="0"/>
              </a:spcBef>
              <a:spcAft>
                <a:spcPts val="0"/>
              </a:spcAft>
              <a:buNone/>
            </a:pPr>
            <a:r>
              <a:rPr lang="en-US"/>
              <a:t>اول: کاربر برای خرید کتاب چاپی، صوتی و الکترونیکی باید به سایت‌های مختلف مراجعه کند. در بوکده این ۳ فرمت در یک مدل داده متمرکز شده‌اند.</a:t>
            </a:r>
            <a:endParaRPr/>
          </a:p>
          <a:p>
            <a:pPr indent="0" lvl="0" marL="0" rtl="0" algn="l">
              <a:spcBef>
                <a:spcPts val="0"/>
              </a:spcBef>
              <a:spcAft>
                <a:spcPts val="0"/>
              </a:spcAft>
              <a:buNone/>
            </a:pPr>
            <a:r>
              <a:rPr lang="en-US"/>
              <a:t>دوم: در پلتفرم‌های باز، ناشران می‌توانند سهواً یا عمداً قیمت‌ها یا داده‌ها را دستکاری کنند. بوکده از گردش‌کار مبتنی بر پیشنهاد (Proposal-based) استفاده می‌کند که تغییرات پس از ممیزی ادمین اعمال می‌شوند.</a:t>
            </a:r>
            <a:endParaRPr/>
          </a:p>
          <a:p>
            <a:pPr indent="0" lvl="0" marL="0" rtl="0" algn="l">
              <a:spcBef>
                <a:spcPts val="0"/>
              </a:spcBef>
              <a:spcAft>
                <a:spcPts val="0"/>
              </a:spcAft>
              <a:buNone/>
            </a:pPr>
            <a:r>
              <a:rPr lang="en-US"/>
              <a:t>سوم: تجربه کاربری کند و لودینگ‌های متوالی. ما با کشینگ TanStack Query و ادغام هوشمند سبد خرید مهمان، تجربه‌ای کاملاً بدون وقفه و روان خلق کردیم.</a:t>
            </a:r>
            <a:endParaRPr/>
          </a:p>
        </p:txBody>
      </p:sp>
      <p:sp>
        <p:nvSpPr>
          <p:cNvPr id="116" name="Google Shape;11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[زمان: ۲:۱۵ تا ۳:۴۵ - ارائه‌دهنده ۲]</a:t>
            </a:r>
            <a:endParaRPr/>
          </a:p>
          <a:p>
            <a:pPr indent="0" lvl="0" marL="0" rtl="0" algn="l">
              <a:spcBef>
                <a:spcPts val="0"/>
              </a:spcBef>
              <a:spcAft>
                <a:spcPts val="0"/>
              </a:spcAft>
              <a:buNone/>
            </a:pPr>
            <a:r>
              <a:rPr lang="en-US"/>
              <a:t>متن گفتار:</a:t>
            </a:r>
            <a:endParaRPr/>
          </a:p>
          <a:p>
            <a:pPr indent="0" lvl="0" marL="0" rtl="0" algn="l">
              <a:spcBef>
                <a:spcPts val="0"/>
              </a:spcBef>
              <a:spcAft>
                <a:spcPts val="0"/>
              </a:spcAft>
              <a:buNone/>
            </a:pPr>
            <a:r>
              <a:rPr lang="en-US"/>
              <a:t>معماری بوکده بر پایه تفکیک کامل دامنه‌ها و تفکیک لایه‌های کلاینت، سرور و پردازش ناهمگام استوار است.</a:t>
            </a:r>
            <a:endParaRPr/>
          </a:p>
          <a:p>
            <a:pPr indent="0" lvl="0" marL="0" rtl="0" algn="l">
              <a:spcBef>
                <a:spcPts val="0"/>
              </a:spcBef>
              <a:spcAft>
                <a:spcPts val="0"/>
              </a:spcAft>
              <a:buNone/>
            </a:pPr>
            <a:r>
              <a:rPr lang="en-US"/>
              <a:t>در فرانت‌اند از React 19 به همراه TanStack Query v5 استفاده کردیم که وظیفه کشینگ هوشمند و همگام‌سازی لحظه‌ای سبد و کیف‌پول را بر عهده دارد.</a:t>
            </a:r>
            <a:endParaRPr/>
          </a:p>
          <a:p>
            <a:pPr indent="0" lvl="0" marL="0" rtl="0" algn="l">
              <a:spcBef>
                <a:spcPts val="0"/>
              </a:spcBef>
              <a:spcAft>
                <a:spcPts val="0"/>
              </a:spcAft>
              <a:buNone/>
            </a:pPr>
            <a:r>
              <a:rPr lang="en-US"/>
              <a:t>در بک‌اند، Django 5.2 و DRF با ۸ ماژول کاملاً مجزا عمل می‌کنند. سیستم احراز هویت از JWT با قابلیت تمدید خودکار و ورود بدون پسورد با OTP ایمیلی بهره می‌برد.</a:t>
            </a:r>
            <a:endParaRPr/>
          </a:p>
          <a:p>
            <a:pPr indent="0" lvl="0" marL="0" rtl="0" algn="l">
              <a:spcBef>
                <a:spcPts val="0"/>
              </a:spcBef>
              <a:spcAft>
                <a:spcPts val="0"/>
              </a:spcAft>
              <a:buNone/>
            </a:pPr>
            <a:r>
              <a:rPr lang="en-US"/>
              <a:t>برای بخش ناهمگام، ترکیب Celery و Redis بارهای سنگین مانند پاکسازی سوابق منقضی و محاسبات شباهت محتوا را از چرخه پاسخ‌دهی به کلاینت خارج کرده است.</a:t>
            </a:r>
            <a:endParaRPr/>
          </a:p>
        </p:txBody>
      </p:sp>
      <p:sp>
        <p:nvSpPr>
          <p:cNvPr id="128" name="Google Shape;12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[زمان: ۳:۴۵ تا ۶:۴۵ - ارائه‌دهنده ۱]</a:t>
            </a:r>
            <a:endParaRPr/>
          </a:p>
          <a:p>
            <a:pPr indent="0" lvl="0" marL="0" rtl="0" algn="l">
              <a:spcBef>
                <a:spcPts val="0"/>
              </a:spcBef>
              <a:spcAft>
                <a:spcPts val="0"/>
              </a:spcAft>
              <a:buNone/>
            </a:pPr>
            <a:r>
              <a:rPr lang="en-US"/>
              <a:t>متن گفتار اسلاید (۱ دقیقه):</a:t>
            </a:r>
            <a:endParaRPr/>
          </a:p>
          <a:p>
            <a:pPr indent="0" lvl="0" marL="0" rtl="0" algn="l">
              <a:spcBef>
                <a:spcPts val="0"/>
              </a:spcBef>
              <a:spcAft>
                <a:spcPts val="0"/>
              </a:spcAft>
              <a:buNone/>
            </a:pPr>
            <a:r>
              <a:rPr lang="en-US"/>
              <a:t>در بوکده قیمت یک کتاب مقدار ثابتی در دیتابیس نیست، بلکه از خط‌لوله متمرکز قیمت‌گذاری عبور می‌کند. سیستم قیمت پایه فرمت انتخابی را گرفته، تخفیف‌های زمان‌دار و پلن اشتراک VIP کاربر را کسر کرده و کد تخفیف را با اعتبارسنجی سقف استفاده اعمال می‌نماید. تمام تغییرات قیمت در جدول تاریخچه ممیزی ثبت می‌شوند.</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[اکنون سوئیچ به مرورگر - ۲ دقیقه دمو]:</a:t>
            </a:r>
            <a:endParaRPr/>
          </a:p>
          <a:p>
            <a:pPr indent="0" lvl="0" marL="0" rtl="0" algn="l">
              <a:spcBef>
                <a:spcPts val="0"/>
              </a:spcBef>
              <a:spcAft>
                <a:spcPts val="0"/>
              </a:spcAft>
              <a:buNone/>
            </a:pPr>
            <a:r>
              <a:rPr lang="en-US"/>
              <a:t>۱. صفحه اصلی بوکده را باز کنید و چیدمان کتاب‌ها را نشان دهید.</a:t>
            </a:r>
            <a:endParaRPr/>
          </a:p>
          <a:p>
            <a:pPr indent="0" lvl="0" marL="0" rtl="0" algn="l">
              <a:spcBef>
                <a:spcPts val="0"/>
              </a:spcBef>
              <a:spcAft>
                <a:spcPts val="0"/>
              </a:spcAft>
              <a:buNone/>
            </a:pPr>
            <a:r>
              <a:rPr lang="en-US"/>
              <a:t>۲. دکمه سوئیچ زبان را بزنید تا تغییر فارسی (RTL) به انگلیسی (LTR) را به داوران نشان دهید.</a:t>
            </a:r>
            <a:endParaRPr/>
          </a:p>
          <a:p>
            <a:pPr indent="0" lvl="0" marL="0" rtl="0" algn="l">
              <a:spcBef>
                <a:spcPts val="0"/>
              </a:spcBef>
              <a:spcAft>
                <a:spcPts val="0"/>
              </a:spcAft>
              <a:buNone/>
            </a:pPr>
            <a:r>
              <a:rPr lang="en-US"/>
              <a:t>۳. وارد صفحه یک کتاب شوید؛ روی تب‌های چاپی، صوتی و الکترونیکی کلیک کنید تا تغییر قیمت و مشخصات را ببینند.</a:t>
            </a:r>
            <a:endParaRPr/>
          </a:p>
          <a:p>
            <a:pPr indent="0" lvl="0" marL="0" rtl="0" algn="l">
              <a:spcBef>
                <a:spcPts val="0"/>
              </a:spcBef>
              <a:spcAft>
                <a:spcPts val="0"/>
              </a:spcAft>
              <a:buNone/>
            </a:pPr>
            <a:r>
              <a:rPr lang="en-US"/>
              <a:t>۴. تخفیف اعمال شده برای کاربر دارای اشتراک VIP را به داور نشان دهید.</a:t>
            </a:r>
            <a:endParaRPr/>
          </a:p>
        </p:txBody>
      </p:sp>
      <p:sp>
        <p:nvSpPr>
          <p:cNvPr id="140" name="Google Shape;14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[زمان: ۶:۴۵ تا ۹:۴۵ - ارائه‌دهنده ۲]</a:t>
            </a:r>
            <a:endParaRPr/>
          </a:p>
          <a:p>
            <a:pPr indent="0" lvl="0" marL="0" rtl="0" algn="l">
              <a:spcBef>
                <a:spcPts val="0"/>
              </a:spcBef>
              <a:spcAft>
                <a:spcPts val="0"/>
              </a:spcAft>
              <a:buNone/>
            </a:pPr>
            <a:r>
              <a:rPr lang="en-US"/>
              <a:t>متن گفتار اسلاید (۱ دقیقه):</a:t>
            </a:r>
            <a:endParaRPr/>
          </a:p>
          <a:p>
            <a:pPr indent="0" lvl="0" marL="0" rtl="0" algn="l">
              <a:spcBef>
                <a:spcPts val="0"/>
              </a:spcBef>
              <a:spcAft>
                <a:spcPts val="0"/>
              </a:spcAft>
              <a:buNone/>
            </a:pPr>
            <a:r>
              <a:rPr lang="en-US"/>
              <a:t>تجارت الکترونیک در بوکده با استانداردهای بالای مالی پیاده شده است:</a:t>
            </a:r>
            <a:endParaRPr/>
          </a:p>
          <a:p>
            <a:pPr indent="0" lvl="0" marL="0" rtl="0" algn="l">
              <a:spcBef>
                <a:spcPts val="0"/>
              </a:spcBef>
              <a:spcAft>
                <a:spcPts val="0"/>
              </a:spcAft>
              <a:buNone/>
            </a:pPr>
            <a:r>
              <a:rPr lang="en-US"/>
              <a:t>اولاً سبد خرید مهمان پس از ورود کاربر بدون گم شدن اقلام در دیتابیس ادغام می‌شود.</a:t>
            </a:r>
            <a:endParaRPr/>
          </a:p>
          <a:p>
            <a:pPr indent="0" lvl="0" marL="0" rtl="0" algn="l">
              <a:spcBef>
                <a:spcPts val="0"/>
              </a:spcBef>
              <a:spcAft>
                <a:spcPts val="0"/>
              </a:spcAft>
              <a:buNone/>
            </a:pPr>
            <a:r>
              <a:rPr lang="en-US"/>
              <a:t>ثانیاً پرداخت از طریق کیف‌پول داخلی با ثبت تراکنش در دفترکل حسابداری دوطرفه انجام می‌شود. برای حفظ پایداری فاکتور، اسنپ‌شات کامل سفارش در لحظه پرداخت قفل می‌شود تا تغییر قیمت در آینده تاثیری روی فاکتور کاربر نگذارد. همچنین لایسنس امن DRM در همان لحظه صادر می‌شود.</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[اکنون سوئیچ به مرورگر - ۲ دقیقه دمو]:</a:t>
            </a:r>
            <a:endParaRPr/>
          </a:p>
          <a:p>
            <a:pPr indent="0" lvl="0" marL="0" rtl="0" algn="l">
              <a:spcBef>
                <a:spcPts val="0"/>
              </a:spcBef>
              <a:spcAft>
                <a:spcPts val="0"/>
              </a:spcAft>
              <a:buNone/>
            </a:pPr>
            <a:r>
              <a:rPr lang="en-US"/>
              <a:t>۱. در حالت مهمان یک کتاب صوتی را به سبد اضافه کنید (تغییر بج هدر را نشان دهید).</a:t>
            </a:r>
            <a:endParaRPr/>
          </a:p>
          <a:p>
            <a:pPr indent="0" lvl="0" marL="0" rtl="0" algn="l">
              <a:spcBef>
                <a:spcPts val="0"/>
              </a:spcBef>
              <a:spcAft>
                <a:spcPts val="0"/>
              </a:spcAft>
              <a:buNone/>
            </a:pPr>
            <a:r>
              <a:rPr lang="en-US"/>
              <a:t>۲. وارد حساب شوید و نشان دهید سبد خرید حفظ و ترکیب شده است.</a:t>
            </a:r>
            <a:endParaRPr/>
          </a:p>
          <a:p>
            <a:pPr indent="0" lvl="0" marL="0" rtl="0" algn="l">
              <a:spcBef>
                <a:spcPts val="0"/>
              </a:spcBef>
              <a:spcAft>
                <a:spcPts val="0"/>
              </a:spcAft>
              <a:buNone/>
            </a:pPr>
            <a:r>
              <a:rPr lang="en-US"/>
              <a:t>۳. به سبد رفته و پرداخت با کیف‌پول را تکمیل کنید (نمایش Toast موفقیت).</a:t>
            </a:r>
            <a:endParaRPr/>
          </a:p>
          <a:p>
            <a:pPr indent="0" lvl="0" marL="0" rtl="0" algn="l">
              <a:spcBef>
                <a:spcPts val="0"/>
              </a:spcBef>
              <a:spcAft>
                <a:spcPts val="0"/>
              </a:spcAft>
              <a:buNone/>
            </a:pPr>
            <a:r>
              <a:rPr lang="en-US"/>
              <a:t>۴. به پنل کاربری بخش قفسه (Shelf) رفته و باز شدن کتابخوان آنلاین را نشان دهید.</a:t>
            </a:r>
            <a:endParaRPr/>
          </a:p>
        </p:txBody>
      </p:sp>
      <p:sp>
        <p:nvSpPr>
          <p:cNvPr id="152" name="Google Shape;15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[زمان: ۹:۴۵ تا ۱۲:۴۵ - ارائه‌دهنده ۱]</a:t>
            </a:r>
            <a:endParaRPr/>
          </a:p>
          <a:p>
            <a:pPr indent="0" lvl="0" marL="0" rtl="0" algn="l">
              <a:spcBef>
                <a:spcPts val="0"/>
              </a:spcBef>
              <a:spcAft>
                <a:spcPts val="0"/>
              </a:spcAft>
              <a:buNone/>
            </a:pPr>
            <a:r>
              <a:rPr lang="en-US"/>
              <a:t>متن گفتار اسلاید (۱ دقیقه):</a:t>
            </a:r>
            <a:endParaRPr/>
          </a:p>
          <a:p>
            <a:pPr indent="0" lvl="0" marL="0" rtl="0" algn="l">
              <a:spcBef>
                <a:spcPts val="0"/>
              </a:spcBef>
              <a:spcAft>
                <a:spcPts val="0"/>
              </a:spcAft>
              <a:buNone/>
            </a:pPr>
            <a:r>
              <a:rPr lang="en-US"/>
              <a:t>یکی از برجسته‌ترین قابلیت‌های فنی پروژه، سامانه مدیریت نشر و ممیزی است.</a:t>
            </a:r>
            <a:endParaRPr/>
          </a:p>
          <a:p>
            <a:pPr indent="0" lvl="0" marL="0" rtl="0" algn="l">
              <a:spcBef>
                <a:spcPts val="0"/>
              </a:spcBef>
              <a:spcAft>
                <a:spcPts val="0"/>
              </a:spcAft>
              <a:buNone/>
            </a:pPr>
            <a:r>
              <a:rPr lang="en-US"/>
              <a:t>ناشران در فضای ایزوله فعالیت می‌کنند و مستقیماً اجازه دستکاری دیتابیس را ندارند. هر ویرایش یا افزوده شدن کتاب به عنوان یک پروپوزال ارسال می‌شود.</a:t>
            </a:r>
            <a:endParaRPr/>
          </a:p>
          <a:p>
            <a:pPr indent="0" lvl="0" marL="0" rtl="0" algn="l">
              <a:spcBef>
                <a:spcPts val="0"/>
              </a:spcBef>
              <a:spcAft>
                <a:spcPts val="0"/>
              </a:spcAft>
              <a:buNone/>
            </a:pPr>
            <a:r>
              <a:rPr lang="en-US"/>
              <a:t>در پنل ادمین جنگو، ما یک رابط گرافیکی اختصاصی برای مقایسه تفاوت‌ها (Diff Cards) پیاده‌سازی کردیم که مقادیر فعلی و جدید را کنار هم نشان می‌دهد تا ادمین به صورت اتمیک آن را تایید یا رد کند.</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[اکنون سوئیچ به مرورگر - ۲ دقیقه دمو]:</a:t>
            </a:r>
            <a:endParaRPr/>
          </a:p>
          <a:p>
            <a:pPr indent="0" lvl="0" marL="0" rtl="0" algn="l">
              <a:spcBef>
                <a:spcPts val="0"/>
              </a:spcBef>
              <a:spcAft>
                <a:spcPts val="0"/>
              </a:spcAft>
              <a:buNone/>
            </a:pPr>
            <a:r>
              <a:rPr lang="en-US"/>
              <a:t>۱. با اکانت نماینده ناشر وارد پنل ناشر شوید و قیمت یا خلاصه یک کتاب را تغییر دهید و پروپوزال بفرستید.</a:t>
            </a:r>
            <a:endParaRPr/>
          </a:p>
          <a:p>
            <a:pPr indent="0" lvl="0" marL="0" rtl="0" algn="l">
              <a:spcBef>
                <a:spcPts val="0"/>
              </a:spcBef>
              <a:spcAft>
                <a:spcPts val="0"/>
              </a:spcAft>
              <a:buNone/>
            </a:pPr>
            <a:r>
              <a:rPr lang="en-US"/>
              <a:t>۲. وارد تب ادمین جنگو شده و بخش Book Proposals را باز کنید.</a:t>
            </a:r>
            <a:endParaRPr/>
          </a:p>
          <a:p>
            <a:pPr indent="0" lvl="0" marL="0" rtl="0" algn="l">
              <a:spcBef>
                <a:spcPts val="0"/>
              </a:spcBef>
              <a:spcAft>
                <a:spcPts val="0"/>
              </a:spcAft>
              <a:buNone/>
            </a:pPr>
            <a:r>
              <a:rPr lang="en-US"/>
              <a:t>۳. کارت‌های مقایسه کنار هم (Diff Cards) و پیش‌نمایش تصویر را به اساتید نشان دهید.</a:t>
            </a:r>
            <a:endParaRPr/>
          </a:p>
          <a:p>
            <a:pPr indent="0" lvl="0" marL="0" rtl="0" algn="l">
              <a:spcBef>
                <a:spcPts val="0"/>
              </a:spcBef>
              <a:spcAft>
                <a:spcPts val="0"/>
              </a:spcAft>
              <a:buNone/>
            </a:pPr>
            <a:r>
              <a:rPr lang="en-US"/>
              <a:t>۴. دکمه Approve را بزنید و سپس در صفحه کتاب سایت نشان دهید که اطلاعات لایو بلافاصله آپدیت شد!</a:t>
            </a:r>
            <a:endParaRPr/>
          </a:p>
        </p:txBody>
      </p:sp>
      <p:sp>
        <p:nvSpPr>
          <p:cNvPr id="164" name="Google Shape;16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[زمان: ۱۲:۴۵ تا ۱۴:۰۰ - ارائه‌دهنده ۲]</a:t>
            </a:r>
            <a:endParaRPr/>
          </a:p>
          <a:p>
            <a:pPr indent="0" lvl="0" marL="0" rtl="0" algn="l">
              <a:spcBef>
                <a:spcPts val="0"/>
              </a:spcBef>
              <a:spcAft>
                <a:spcPts val="0"/>
              </a:spcAft>
              <a:buNone/>
            </a:pPr>
            <a:r>
              <a:rPr lang="en-US"/>
              <a:t>متن گفتار:</a:t>
            </a:r>
            <a:endParaRPr/>
          </a:p>
          <a:p>
            <a:pPr indent="0" lvl="0" marL="0" rtl="0" algn="l">
              <a:spcBef>
                <a:spcPts val="0"/>
              </a:spcBef>
              <a:spcAft>
                <a:spcPts val="0"/>
              </a:spcAft>
              <a:buNone/>
            </a:pPr>
            <a:r>
              <a:rPr lang="en-US"/>
              <a:t>در این بخش ۳ هایلایت مهندسی زیرساخت سیستم را بررسی می‌کنیم:</a:t>
            </a:r>
            <a:endParaRPr/>
          </a:p>
          <a:p>
            <a:pPr indent="0" lvl="0" marL="0" rtl="0" algn="l">
              <a:spcBef>
                <a:spcPts val="0"/>
              </a:spcBef>
              <a:spcAft>
                <a:spcPts val="0"/>
              </a:spcAft>
              <a:buNone/>
            </a:pPr>
            <a:r>
              <a:rPr lang="en-US"/>
              <a:t>۱. موتور پیشنهاد محتوامحور: برای پرهیز از افت پرفورمنس، محاسبات ماتریس شباهت TF-IDF را به تسک‌های پس‌زمینه Celery سپردیم تا کوئری کلاینت فقط نتایج کش‌شده را در چند میلی‌ثانیه واکشی کند.</a:t>
            </a:r>
            <a:endParaRPr/>
          </a:p>
          <a:p>
            <a:pPr indent="0" lvl="0" marL="0" rtl="0" algn="l">
              <a:spcBef>
                <a:spcPts val="0"/>
              </a:spcBef>
              <a:spcAft>
                <a:spcPts val="0"/>
              </a:spcAft>
              <a:buNone/>
            </a:pPr>
            <a:r>
              <a:rPr lang="en-US"/>
              <a:t>۲. امنیت: احراز هویت بدون رمز با کد OTP ایمیلی و توکن‌های JWT گردشی انجام می‌شود. صف رهگیری در کلاینت اجازه نمی‌دهد سشن کاربر حین کار با سایت قطع شود.</a:t>
            </a:r>
            <a:endParaRPr/>
          </a:p>
          <a:p>
            <a:pPr indent="0" lvl="0" marL="0" rtl="0" algn="l">
              <a:spcBef>
                <a:spcPts val="0"/>
              </a:spcBef>
              <a:spcAft>
                <a:spcPts val="0"/>
              </a:spcAft>
              <a:buNone/>
            </a:pPr>
            <a:r>
              <a:rPr lang="en-US"/>
              <a:t>۳. تضمین کیفیت: با تست‌های اتوماتیک روی ماژول‌های مالی و قیمت‌گذاری، از پایداری و درستی محاسبات اطمینان حاصل شده است.</a:t>
            </a:r>
            <a:endParaRPr/>
          </a:p>
        </p:txBody>
      </p:sp>
      <p:sp>
        <p:nvSpPr>
          <p:cNvPr id="176" name="Google Shape;17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[زمان: ۱۴:۰۰ تا ۱۵:۰۰ - مشترک هر دو ارائه‌دهنده]</a:t>
            </a:r>
            <a:endParaRPr/>
          </a:p>
          <a:p>
            <a:pPr indent="0" lvl="0" marL="0" rtl="0" algn="l">
              <a:spcBef>
                <a:spcPts val="0"/>
              </a:spcBef>
              <a:spcAft>
                <a:spcPts val="0"/>
              </a:spcAft>
              <a:buNone/>
            </a:pPr>
            <a:r>
              <a:rPr lang="en-US"/>
              <a:t>متن گفتار:</a:t>
            </a:r>
            <a:endParaRPr/>
          </a:p>
          <a:p>
            <a:pPr indent="0" lvl="0" marL="0" rtl="0" algn="l">
              <a:spcBef>
                <a:spcPts val="0"/>
              </a:spcBef>
              <a:spcAft>
                <a:spcPts val="0"/>
              </a:spcAft>
              <a:buNone/>
            </a:pPr>
            <a:r>
              <a:rPr lang="en-US"/>
              <a:t>به عنوان جمع‌بندی، سیستم بوکده بستری قابل اتکا و مقیاس‌پذیر برای چرخه کامل کتاب—از ناشر تا خواننده—ارائه داده است. تمام ماژول‌های مهندسی‌شده با دقت بالا تست و پیاده‌سازی شده‌اند.</a:t>
            </a:r>
            <a:endParaRPr/>
          </a:p>
          <a:p>
            <a:pPr indent="0" lvl="0" marL="0" rtl="0" algn="l">
              <a:spcBef>
                <a:spcPts val="0"/>
              </a:spcBef>
              <a:spcAft>
                <a:spcPts val="0"/>
              </a:spcAft>
              <a:buNone/>
            </a:pPr>
            <a:r>
              <a:rPr lang="en-US"/>
              <a:t>در گام‌های بعدی، افزودن لایه اجتماعی و اتصال به درگاه بانکی تجاری مد نظر است.</a:t>
            </a:r>
            <a:endParaRPr/>
          </a:p>
          <a:p>
            <a:pPr indent="0" lvl="0" marL="0" rtl="0" algn="l">
              <a:spcBef>
                <a:spcPts val="0"/>
              </a:spcBef>
              <a:spcAft>
                <a:spcPts val="0"/>
              </a:spcAft>
              <a:buNone/>
            </a:pPr>
            <a:r>
              <a:rPr lang="en-US"/>
              <a:t>از همراهی و توجه شما اساتید محترم صمیمانه سپاسگزاریم و با کمال میل آماده پاسخگویی به پرسش‌های شما هستیم.</a:t>
            </a:r>
            <a:endParaRPr/>
          </a:p>
        </p:txBody>
      </p:sp>
      <p:sp>
        <p:nvSpPr>
          <p:cNvPr id="188" name="Google Shape;18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[ارائه‌دهنده فرانت‌اند - تمرکز تخصصی روی TanStack React Query v5]</a:t>
            </a:r>
          </a:p>
          <a:p>
            <a:r>
              <a:t>نکات کلیدی صحبت:</a:t>
            </a:r>
          </a:p>
          <a:p>
            <a:r>
              <a:t>۱. در فرانت‌اند بوکده، مدیریت کشینگ و استیت سرور را با TanStack React Query v5 متحول کردیم.</a:t>
            </a:r>
          </a:p>
          <a:p>
            <a:r>
              <a:t>۲. با الگوی Query Key Factory، تمام کلیدهای کش به صورت سلسله‌مراتبی مهندسی شده‌اند تا بتوانیم به طور هدفمند فقط بخشی از کش (مثلاً فقط سبد یا موجودی کیف‌پول) را بدون دستکاری کل کش، نامعتبر و بروز کنیم.</a:t>
            </a:r>
          </a:p>
          <a:p>
            <a:r>
              <a:t>۳. استراتژی Stale-While-Revalidate اجازه می‌دهد کاربر فوراً داده را از حافظه ببیند در حالی که سیستم در پس‌زمینه به روز بودن آن را با سرور چک می‌کند؛ این کار پرش‌های سفید لودینگ را کاملاً صفر کرده است.</a:t>
            </a:r>
          </a:p>
          <a:p>
            <a:r>
              <a:t>۴. همچنین هنگام انقضای Access Token، اینترسپتور Axios درخواست‌های همزمان را در صف نگه می‌دارد، با Refresh Token سشن را نوسازی می‌کند و دوباره درخواست‌ها را شفاف ارسال می‌نماید بدون این که کاربر متوجه کوچک‌ترین وقفه‌ای شود.</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[ارائه‌دهنده بک‌اند - تمرکز تخصصی روی موتور قیمت‌گذاری و پایپ‌لاین محاسباتی]</a:t>
            </a:r>
          </a:p>
          <a:p>
            <a:r>
              <a:t>نکات کلیدی صحبت:</a:t>
            </a:r>
          </a:p>
          <a:p>
            <a:r>
              <a:t>۱. قیمت کالا در بوکده یک فیلد ساده در دیتابیس نیست، بلکه محصول یک خط‌لوله ۵ مرحله‌ای (Pricing Pipeline) است.</a:t>
            </a:r>
          </a:p>
          <a:p>
            <a:r>
              <a:t>۲. ابتدا قیمت پایه بر اساس فرمت (چاپی، صوتی، الکترونیکی) استخراج می‌شود، سپس تخفیف کمپین، سپس سهم اشتراک VIP، و در نهایت کد تخفیف اعتبارسنجی و کسر می‌گردد.</a:t>
            </a:r>
          </a:p>
          <a:p>
            <a:r>
              <a:t>۳. موتور Stacking Validation چک می‌کند که آیا کد تخفیف با سایر تخفیف‌ها همپوشانی دارد یا خیر، آیا سقف استفاده کاربر پر شده و آیا حداقل مبلغ سبد تامین است یا خیر.</a:t>
            </a:r>
          </a:p>
          <a:p>
            <a:r>
              <a:t>۴. برای تضمین شفافیت مالی، هر بار که قیمتی تغییر کند در جدول ممیزی PriceHistory با برچسب زمانی و ادمین مسئول لاگ می‌شود. همچنین اشتراک‌های VIP در صورت لغو پیش از موعد، به نسبت روزهای باقیمانده بازپرداخت منصفانه (Prorated) به کیف‌پول دارند.</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[ارائه‌دهنده بک‌اند - تمرکز تخصصی روی امنیت مالی، همزمانی و دفترکل]</a:t>
            </a:r>
          </a:p>
          <a:p>
            <a:r>
              <a:t>نکات کلیدی صحبت:</a:t>
            </a:r>
          </a:p>
          <a:p>
            <a:r>
              <a:t>۱. سیستم کیف‌پول بر اساس معماری استاندارد بانکی Double-Entry Ledger پیاده شده است که هر تراکنش (واریز، برداشت، استرداد) لاگ مجزا و حسابرسی‌پذیر دارد.</a:t>
            </a:r>
          </a:p>
          <a:p>
            <a:r>
              <a:t>۲. برای مقابله با Race Condition و خطای برداشت همزمان (Double Spending)، در لحظه تسویه از select_for_update روی ردیف کیف‌پول استفاده کردیم تا تا زمان پایان تراکنش اتمیک، هیچ درخواست همزمانی نتواند همان موجودی را دوباره مصرف کند.</a:t>
            </a:r>
          </a:p>
          <a:p>
            <a:r>
              <a:t>۳. اسنپ‌شات سفارشات تغییرناپذیر (Immutable Order Snapshot) است؛ به این معنی که اطلاعات کتاب، قیمت پرداختی و آدرس در زمان تراکنش فریز می‌شوند تا تغییرات بعدی ناشر یا ادمین تاثیری روی سابقه فاکتور مشتری نگذارد.</a:t>
            </a:r>
          </a:p>
          <a:p>
            <a:r>
              <a:t>۴. بلافاصله پس از تسویه موفق، لایسنس دیجیتال DRM صادر و به قفسه کاربر منتقل می‌شود.</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2191695" cy="6858000"/>
          </a:xfrm>
          <a:prstGeom prst="rect">
            <a:avLst/>
          </a:prstGeom>
          <a:solidFill>
            <a:srgbClr val="F8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p:nvPr/>
        </p:nvSpPr>
        <p:spPr>
          <a:xfrm>
            <a:off x="1371600" y="914400"/>
            <a:ext cx="9448495" cy="310896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1" algn="ctr">
              <a:spcBef>
                <a:spcPts val="0"/>
              </a:spcBef>
              <a:spcAft>
                <a:spcPts val="0"/>
              </a:spcAft>
              <a:buNone/>
            </a:pPr>
            <a:r>
              <a:rPr i="0" lang="en-US" sz="3600" u="none" cap="none" strike="noStrike">
                <a:solidFill>
                  <a:srgbClr val="CA7900"/>
                </a:solidFill>
                <a:latin typeface="Vazirmatn"/>
                <a:ea typeface="Vazirmatn"/>
                <a:cs typeface="Vazirmatn"/>
                <a:sym typeface="Vazirmatn"/>
              </a:rPr>
              <a:t>📚 سامانه بوک</a:t>
            </a:r>
            <a:r>
              <a:rPr lang="en-US" sz="3600">
                <a:solidFill>
                  <a:srgbClr val="CA7900"/>
                </a:solidFill>
                <a:latin typeface="Vazirmatn"/>
                <a:ea typeface="Vazirmatn"/>
                <a:cs typeface="Vazirmatn"/>
                <a:sym typeface="Vazirmatn"/>
              </a:rPr>
              <a:t>ّ</a:t>
            </a:r>
            <a:r>
              <a:rPr i="0" lang="en-US" sz="3600" u="none" cap="none" strike="noStrike">
                <a:solidFill>
                  <a:srgbClr val="CA7900"/>
                </a:solidFill>
                <a:latin typeface="Vazirmatn"/>
                <a:ea typeface="Vazirmatn"/>
                <a:cs typeface="Vazirmatn"/>
                <a:sym typeface="Vazirmatn"/>
              </a:rPr>
              <a:t>ده (Bookkadeh)</a:t>
            </a:r>
            <a:endParaRPr>
              <a:latin typeface="Vazirmatn"/>
              <a:ea typeface="Vazirmatn"/>
              <a:cs typeface="Vazirmatn"/>
              <a:sym typeface="Vazirmatn"/>
            </a:endParaRPr>
          </a:p>
          <a:p>
            <a:pPr indent="0" lvl="0" marL="0" marR="0" rtl="1" algn="ctr">
              <a:spcBef>
                <a:spcPts val="1000"/>
              </a:spcBef>
              <a:spcAft>
                <a:spcPts val="0"/>
              </a:spcAft>
              <a:buNone/>
            </a:pPr>
            <a:r>
              <a:rPr i="0" lang="en-US" sz="1900" u="none" cap="none" strike="noStrike">
                <a:solidFill>
                  <a:srgbClr val="1E293B"/>
                </a:solidFill>
                <a:latin typeface="Vazirmatn"/>
                <a:ea typeface="Vazirmatn"/>
                <a:cs typeface="Vazirmatn"/>
                <a:sym typeface="Vazirmatn"/>
              </a:rPr>
              <a:t>پلتفرم سازمانی دو زبانه فروش کتاب، اشتراک VIP و مدیریت انتشارات</a:t>
            </a:r>
            <a:endParaRPr>
              <a:latin typeface="Vazirmatn"/>
              <a:ea typeface="Vazirmatn"/>
              <a:cs typeface="Vazirmatn"/>
              <a:sym typeface="Vazirmatn"/>
            </a:endParaRPr>
          </a:p>
          <a:p>
            <a:pPr indent="0" lvl="0" marL="0" marR="0" rtl="1" algn="ctr">
              <a:spcBef>
                <a:spcPts val="1000"/>
              </a:spcBef>
              <a:spcAft>
                <a:spcPts val="0"/>
              </a:spcAft>
              <a:buNone/>
            </a:pPr>
            <a:r>
              <a:rPr i="0" lang="en-US" sz="1400" u="none" cap="none" strike="noStrike">
                <a:solidFill>
                  <a:srgbClr val="64748B"/>
                </a:solidFill>
                <a:latin typeface="Vazirmatn"/>
                <a:ea typeface="Vazirmatn"/>
                <a:cs typeface="Vazirmatn"/>
                <a:sym typeface="Vazirmatn"/>
              </a:rPr>
              <a:t>جلسه ارزیابی و دفاعیه پروژه پایانی دوره کارشناسی مهندسی کامپیوتر</a:t>
            </a:r>
            <a:endParaRPr>
              <a:latin typeface="Vazirmatn"/>
              <a:ea typeface="Vazirmatn"/>
              <a:cs typeface="Vazirmatn"/>
              <a:sym typeface="Vazirmatn"/>
            </a:endParaRPr>
          </a:p>
        </p:txBody>
      </p:sp>
      <p:sp>
        <p:nvSpPr>
          <p:cNvPr id="87" name="Google Shape;87;p13"/>
          <p:cNvSpPr/>
          <p:nvPr/>
        </p:nvSpPr>
        <p:spPr>
          <a:xfrm>
            <a:off x="914400" y="4297680"/>
            <a:ext cx="1993392" cy="438912"/>
          </a:xfrm>
          <a:prstGeom prst="roundRect">
            <a:avLst>
              <a:gd fmla="val 16667" name="adj"/>
            </a:avLst>
          </a:prstGeom>
          <a:solidFill>
            <a:srgbClr val="FFFFFF"/>
          </a:solidFill>
          <a:ln cap="flat" cmpd="sng" w="15225">
            <a:solidFill>
              <a:srgbClr val="2D354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50" u="none" cap="none" strike="noStrike">
                <a:solidFill>
                  <a:srgbClr val="2D3546"/>
                </a:solidFill>
                <a:latin typeface="Arial"/>
                <a:ea typeface="Arial"/>
                <a:cs typeface="Arial"/>
                <a:sym typeface="Arial"/>
              </a:rPr>
              <a:t>Django 5.2 &amp; DRF</a:t>
            </a:r>
            <a:endParaRPr/>
          </a:p>
        </p:txBody>
      </p:sp>
      <p:sp>
        <p:nvSpPr>
          <p:cNvPr id="88" name="Google Shape;88;p13"/>
          <p:cNvSpPr/>
          <p:nvPr/>
        </p:nvSpPr>
        <p:spPr>
          <a:xfrm>
            <a:off x="3044952" y="4297680"/>
            <a:ext cx="1993392" cy="438912"/>
          </a:xfrm>
          <a:prstGeom prst="roundRect">
            <a:avLst>
              <a:gd fmla="val 16667" name="adj"/>
            </a:avLst>
          </a:prstGeom>
          <a:solidFill>
            <a:srgbClr val="FFFFFF"/>
          </a:solidFill>
          <a:ln cap="flat" cmpd="sng" w="15225">
            <a:solidFill>
              <a:srgbClr val="2563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50" u="none" cap="none" strike="noStrike">
                <a:solidFill>
                  <a:srgbClr val="2563EB"/>
                </a:solidFill>
                <a:latin typeface="Arial"/>
                <a:ea typeface="Arial"/>
                <a:cs typeface="Arial"/>
                <a:sym typeface="Arial"/>
              </a:rPr>
              <a:t>React 19 &amp; TanStack Query</a:t>
            </a:r>
            <a:endParaRPr/>
          </a:p>
        </p:txBody>
      </p:sp>
      <p:sp>
        <p:nvSpPr>
          <p:cNvPr id="89" name="Google Shape;89;p13"/>
          <p:cNvSpPr/>
          <p:nvPr/>
        </p:nvSpPr>
        <p:spPr>
          <a:xfrm>
            <a:off x="5175504" y="4297680"/>
            <a:ext cx="1993392" cy="438912"/>
          </a:xfrm>
          <a:prstGeom prst="roundRect">
            <a:avLst>
              <a:gd fmla="val 16667" name="adj"/>
            </a:avLst>
          </a:prstGeom>
          <a:solidFill>
            <a:srgbClr val="FFFFFF"/>
          </a:solidFill>
          <a:ln cap="flat" cmpd="sng" w="15225">
            <a:solidFill>
              <a:srgbClr val="05966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50" u="none" cap="none" strike="noStrike">
                <a:solidFill>
                  <a:srgbClr val="059669"/>
                </a:solidFill>
                <a:latin typeface="Arial"/>
                <a:ea typeface="Arial"/>
                <a:cs typeface="Arial"/>
                <a:sym typeface="Arial"/>
              </a:rPr>
              <a:t>PostgreSQL &amp; Redis 7</a:t>
            </a:r>
            <a:endParaRPr/>
          </a:p>
        </p:txBody>
      </p:sp>
      <p:sp>
        <p:nvSpPr>
          <p:cNvPr id="90" name="Google Shape;90;p13"/>
          <p:cNvSpPr/>
          <p:nvPr/>
        </p:nvSpPr>
        <p:spPr>
          <a:xfrm>
            <a:off x="7306056" y="4297680"/>
            <a:ext cx="1993392" cy="438912"/>
          </a:xfrm>
          <a:prstGeom prst="roundRect">
            <a:avLst>
              <a:gd fmla="val 16667" name="adj"/>
            </a:avLst>
          </a:prstGeom>
          <a:solidFill>
            <a:srgbClr val="FFFFFF"/>
          </a:solidFill>
          <a:ln cap="flat" cmpd="sng" w="15225">
            <a:solidFill>
              <a:srgbClr val="CA790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50" u="none" cap="none" strike="noStrike">
                <a:solidFill>
                  <a:srgbClr val="CA7900"/>
                </a:solidFill>
                <a:latin typeface="Arial"/>
                <a:ea typeface="Arial"/>
                <a:cs typeface="Arial"/>
                <a:sym typeface="Arial"/>
              </a:rPr>
              <a:t>Celery Async Tasks</a:t>
            </a:r>
            <a:endParaRPr/>
          </a:p>
        </p:txBody>
      </p:sp>
      <p:sp>
        <p:nvSpPr>
          <p:cNvPr id="91" name="Google Shape;91;p13"/>
          <p:cNvSpPr/>
          <p:nvPr/>
        </p:nvSpPr>
        <p:spPr>
          <a:xfrm>
            <a:off x="9436608" y="4297680"/>
            <a:ext cx="1993392" cy="438912"/>
          </a:xfrm>
          <a:prstGeom prst="roundRect">
            <a:avLst>
              <a:gd fmla="val 16667" name="adj"/>
            </a:avLst>
          </a:prstGeom>
          <a:solidFill>
            <a:srgbClr val="FFFFFF"/>
          </a:solidFill>
          <a:ln cap="flat" cmpd="sng" w="15225">
            <a:solidFill>
              <a:srgbClr val="2D354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50" u="none" cap="none" strike="noStrike">
                <a:solidFill>
                  <a:srgbClr val="2D3546"/>
                </a:solidFill>
                <a:latin typeface="Arial"/>
                <a:ea typeface="Arial"/>
                <a:cs typeface="Arial"/>
                <a:sym typeface="Arial"/>
              </a:rPr>
              <a:t>Bilingual (FA / EN)</a:t>
            </a:r>
            <a:endParaRPr/>
          </a:p>
        </p:txBody>
      </p:sp>
      <p:sp>
        <p:nvSpPr>
          <p:cNvPr id="92" name="Google Shape;92;p13"/>
          <p:cNvSpPr/>
          <p:nvPr/>
        </p:nvSpPr>
        <p:spPr>
          <a:xfrm>
            <a:off x="2011680" y="4983480"/>
            <a:ext cx="8168335" cy="128016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1" algn="ctr">
              <a:lnSpc>
                <a:spcPct val="100000"/>
              </a:lnSpc>
              <a:spcBef>
                <a:spcPts val="400"/>
              </a:spcBef>
              <a:spcAft>
                <a:spcPts val="0"/>
              </a:spcAft>
              <a:buNone/>
            </a:pPr>
            <a:r>
              <a:rPr b="1" lang="en-US" sz="1300">
                <a:solidFill>
                  <a:srgbClr val="1E293B"/>
                </a:solidFill>
                <a:latin typeface="Vazirmatn"/>
                <a:ea typeface="Vazirmatn"/>
                <a:cs typeface="Vazirmatn"/>
                <a:sym typeface="Vazirmatn"/>
              </a:rPr>
              <a:t>استاد راهنما:</a:t>
            </a:r>
            <a:br>
              <a:rPr b="1" lang="en-US" sz="1300">
                <a:solidFill>
                  <a:srgbClr val="1E293B"/>
                </a:solidFill>
                <a:latin typeface="Vazirmatn"/>
                <a:ea typeface="Vazirmatn"/>
                <a:cs typeface="Vazirmatn"/>
                <a:sym typeface="Vazirmatn"/>
              </a:rPr>
            </a:br>
            <a:r>
              <a:rPr lang="en-US" sz="1350">
                <a:solidFill>
                  <a:srgbClr val="CA7900"/>
                </a:solidFill>
                <a:latin typeface="Vazirmatn"/>
                <a:ea typeface="Vazirmatn"/>
                <a:cs typeface="Vazirmatn"/>
                <a:sym typeface="Vazirmatn"/>
              </a:rPr>
              <a:t>دکتر مقدادی</a:t>
            </a:r>
            <a:endParaRPr b="1" sz="1300">
              <a:solidFill>
                <a:srgbClr val="1E293B"/>
              </a:solidFill>
              <a:latin typeface="Vazirmatn"/>
              <a:ea typeface="Vazirmatn"/>
              <a:cs typeface="Vazirmatn"/>
              <a:sym typeface="Vazirmatn"/>
            </a:endParaRPr>
          </a:p>
          <a:p>
            <a:pPr indent="0" lvl="0" marL="0" marR="0" rtl="1" algn="ctr">
              <a:spcBef>
                <a:spcPts val="0"/>
              </a:spcBef>
              <a:spcAft>
                <a:spcPts val="0"/>
              </a:spcAft>
              <a:buNone/>
            </a:pPr>
            <a:r>
              <a:rPr b="1" i="0" lang="en-US" sz="1300" u="none" cap="none" strike="noStrike">
                <a:solidFill>
                  <a:srgbClr val="1E293B"/>
                </a:solidFill>
                <a:latin typeface="Vazirmatn"/>
                <a:ea typeface="Vazirmatn"/>
                <a:cs typeface="Vazirmatn"/>
                <a:sym typeface="Vazirmatn"/>
              </a:rPr>
              <a:t>تیم توسعه و ارائه‌دهندگا</a:t>
            </a:r>
            <a:r>
              <a:rPr b="1" lang="en-US" sz="1300">
                <a:solidFill>
                  <a:srgbClr val="1E293B"/>
                </a:solidFill>
                <a:latin typeface="Vazirmatn"/>
                <a:ea typeface="Vazirmatn"/>
                <a:cs typeface="Vazirmatn"/>
                <a:sym typeface="Vazirmatn"/>
              </a:rPr>
              <a:t>ن:</a:t>
            </a:r>
            <a:endParaRPr b="1" sz="1300">
              <a:solidFill>
                <a:srgbClr val="1E293B"/>
              </a:solidFill>
              <a:latin typeface="Vazirmatn"/>
              <a:ea typeface="Vazirmatn"/>
              <a:cs typeface="Vazirmatn"/>
              <a:sym typeface="Vazirmatn"/>
            </a:endParaRPr>
          </a:p>
          <a:p>
            <a:pPr indent="0" lvl="0" marL="0" marR="0" rtl="1" algn="ctr">
              <a:spcBef>
                <a:spcPts val="400"/>
              </a:spcBef>
              <a:spcAft>
                <a:spcPts val="0"/>
              </a:spcAft>
              <a:buNone/>
            </a:pPr>
            <a:r>
              <a:rPr lang="en-US" sz="1350">
                <a:solidFill>
                  <a:srgbClr val="CA7900"/>
                </a:solidFill>
                <a:latin typeface="Vazirmatn"/>
                <a:ea typeface="Vazirmatn"/>
                <a:cs typeface="Vazirmatn"/>
                <a:sym typeface="Vazirmatn"/>
              </a:rPr>
              <a:t>سید امیررضا صمودی طهرانی | پارسا علی نژاد مافی فرد</a:t>
            </a:r>
            <a:endParaRPr>
              <a:latin typeface="Vazirmatn"/>
              <a:ea typeface="Vazirmatn"/>
              <a:cs typeface="Vazirmatn"/>
              <a:sym typeface="Vazirmat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p:nvPr/>
        </p:nvSpPr>
        <p:spPr>
          <a:xfrm>
            <a:off x="-12" y="0"/>
            <a:ext cx="12191700" cy="6858000"/>
          </a:xfrm>
          <a:prstGeom prst="rect">
            <a:avLst/>
          </a:prstGeom>
          <a:solidFill>
            <a:srgbClr val="F8FAFC"/>
          </a:solidFill>
          <a:ln>
            <a:noFill/>
          </a:ln>
          <a:effectLst>
            <a:outerShdw blurRad="40000" rotWithShape="0" dir="5400000" dist="23000">
              <a:srgbClr val="000000">
                <a:alpha val="34900"/>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14"/>
          <p:cNvSpPr/>
          <p:nvPr/>
        </p:nvSpPr>
        <p:spPr>
          <a:xfrm>
            <a:off x="7736000" y="1460922"/>
            <a:ext cx="3361800" cy="43530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500" u="none" cap="none" strike="noStrike">
                <a:solidFill>
                  <a:srgbClr val="CA7900"/>
                </a:solidFill>
                <a:latin typeface="Vazirmatn"/>
                <a:ea typeface="Vazirmatn"/>
                <a:cs typeface="Vazirmatn"/>
                <a:sym typeface="Vazirmatn"/>
              </a:rPr>
              <a:t>ارزش پیشنهادی و دامنه محصول</a:t>
            </a:r>
            <a:endParaRPr sz="1800">
              <a:latin typeface="Vazirmatn"/>
              <a:ea typeface="Vazirmatn"/>
              <a:cs typeface="Vazirmatn"/>
              <a:sym typeface="Vazirmatn"/>
            </a:endParaRPr>
          </a:p>
        </p:txBody>
      </p:sp>
      <p:sp>
        <p:nvSpPr>
          <p:cNvPr id="99" name="Google Shape;99;p14"/>
          <p:cNvSpPr/>
          <p:nvPr/>
        </p:nvSpPr>
        <p:spPr>
          <a:xfrm>
            <a:off x="7736000" y="1996647"/>
            <a:ext cx="3361800" cy="43530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500" u="none" cap="none" strike="noStrike">
                <a:solidFill>
                  <a:srgbClr val="CA7900"/>
                </a:solidFill>
                <a:latin typeface="Vazirmatn"/>
                <a:ea typeface="Vazirmatn"/>
                <a:cs typeface="Vazirmatn"/>
                <a:sym typeface="Vazirmatn"/>
              </a:rPr>
              <a:t>مهندسی زیرساخت</a:t>
            </a:r>
            <a:endParaRPr sz="1500">
              <a:latin typeface="Vazirmatn"/>
              <a:ea typeface="Vazirmatn"/>
              <a:cs typeface="Vazirmatn"/>
              <a:sym typeface="Vazirmatn"/>
            </a:endParaRPr>
          </a:p>
        </p:txBody>
      </p:sp>
      <p:sp>
        <p:nvSpPr>
          <p:cNvPr id="100" name="Google Shape;100;p14"/>
          <p:cNvSpPr/>
          <p:nvPr/>
        </p:nvSpPr>
        <p:spPr>
          <a:xfrm>
            <a:off x="7736000" y="2532375"/>
            <a:ext cx="3361800" cy="49260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1500" u="none" cap="none" strike="noStrike">
                <a:solidFill>
                  <a:srgbClr val="CA7900"/>
                </a:solidFill>
                <a:latin typeface="Vazirmatn"/>
                <a:ea typeface="Vazirmatn"/>
                <a:cs typeface="Vazirmatn"/>
                <a:sym typeface="Vazirmatn"/>
              </a:rPr>
              <a:t>کاتالوگ و قیمت‌گذاری</a:t>
            </a:r>
            <a:endParaRPr sz="1500">
              <a:latin typeface="Vazirmatn"/>
              <a:ea typeface="Vazirmatn"/>
              <a:cs typeface="Vazirmatn"/>
              <a:sym typeface="Vazirmatn"/>
            </a:endParaRPr>
          </a:p>
        </p:txBody>
      </p:sp>
      <p:sp>
        <p:nvSpPr>
          <p:cNvPr id="101" name="Google Shape;101;p14"/>
          <p:cNvSpPr/>
          <p:nvPr/>
        </p:nvSpPr>
        <p:spPr>
          <a:xfrm>
            <a:off x="7736000" y="3125400"/>
            <a:ext cx="3361800" cy="49260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1500" u="none" cap="none" strike="noStrike">
                <a:solidFill>
                  <a:srgbClr val="CA7900"/>
                </a:solidFill>
                <a:latin typeface="Vazirmatn"/>
                <a:ea typeface="Vazirmatn"/>
                <a:cs typeface="Vazirmatn"/>
                <a:sym typeface="Vazirmatn"/>
              </a:rPr>
              <a:t>تجارت الکترونیک و پرداخت</a:t>
            </a:r>
            <a:endParaRPr sz="1500">
              <a:latin typeface="Vazirmatn"/>
              <a:ea typeface="Vazirmatn"/>
              <a:cs typeface="Vazirmatn"/>
              <a:sym typeface="Vazirmatn"/>
            </a:endParaRPr>
          </a:p>
        </p:txBody>
      </p:sp>
      <p:sp>
        <p:nvSpPr>
          <p:cNvPr id="102" name="Google Shape;102;p14"/>
          <p:cNvSpPr/>
          <p:nvPr/>
        </p:nvSpPr>
        <p:spPr>
          <a:xfrm>
            <a:off x="7736000" y="3718425"/>
            <a:ext cx="3361800" cy="49260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1500" u="none" cap="none" strike="noStrike">
                <a:solidFill>
                  <a:srgbClr val="CA7900"/>
                </a:solidFill>
                <a:latin typeface="Vazirmatn"/>
                <a:ea typeface="Vazirmatn"/>
                <a:cs typeface="Vazirmatn"/>
                <a:sym typeface="Vazirmatn"/>
              </a:rPr>
              <a:t>مدیریت نشر و ممیزی</a:t>
            </a:r>
            <a:endParaRPr sz="1500">
              <a:latin typeface="Vazirmatn"/>
              <a:ea typeface="Vazirmatn"/>
              <a:cs typeface="Vazirmatn"/>
              <a:sym typeface="Vazirmatn"/>
            </a:endParaRPr>
          </a:p>
        </p:txBody>
      </p:sp>
      <p:sp>
        <p:nvSpPr>
          <p:cNvPr id="103" name="Google Shape;103;p14"/>
          <p:cNvSpPr/>
          <p:nvPr/>
        </p:nvSpPr>
        <p:spPr>
          <a:xfrm>
            <a:off x="7736000" y="4311445"/>
            <a:ext cx="3361800" cy="49260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1500" u="none" cap="none" strike="noStrike">
                <a:solidFill>
                  <a:srgbClr val="CA7900"/>
                </a:solidFill>
                <a:latin typeface="Vazirmatn"/>
                <a:ea typeface="Vazirmatn"/>
                <a:cs typeface="Vazirmatn"/>
                <a:sym typeface="Vazirmatn"/>
              </a:rPr>
              <a:t>زیرساخت پیشرفته</a:t>
            </a:r>
            <a:endParaRPr sz="1500">
              <a:latin typeface="Vazirmatn"/>
              <a:ea typeface="Vazirmatn"/>
              <a:cs typeface="Vazirmatn"/>
              <a:sym typeface="Vazirmatn"/>
            </a:endParaRPr>
          </a:p>
        </p:txBody>
      </p:sp>
      <p:sp>
        <p:nvSpPr>
          <p:cNvPr id="104" name="Google Shape;104;p14"/>
          <p:cNvSpPr/>
          <p:nvPr/>
        </p:nvSpPr>
        <p:spPr>
          <a:xfrm>
            <a:off x="7736000" y="4904470"/>
            <a:ext cx="3361800" cy="49260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1500" u="none" cap="none" strike="noStrike">
                <a:solidFill>
                  <a:srgbClr val="CA7900"/>
                </a:solidFill>
                <a:latin typeface="Vazirmatn"/>
                <a:ea typeface="Vazirmatn"/>
                <a:cs typeface="Vazirmatn"/>
                <a:sym typeface="Vazirmatn"/>
              </a:rPr>
              <a:t>پایان ارائه</a:t>
            </a:r>
            <a:endParaRPr sz="1500">
              <a:latin typeface="Vazirmatn"/>
              <a:ea typeface="Vazirmatn"/>
              <a:cs typeface="Vazirmatn"/>
              <a:sym typeface="Vazirmatn"/>
            </a:endParaRPr>
          </a:p>
        </p:txBody>
      </p:sp>
      <p:sp>
        <p:nvSpPr>
          <p:cNvPr id="105" name="Google Shape;105;p14"/>
          <p:cNvSpPr/>
          <p:nvPr/>
        </p:nvSpPr>
        <p:spPr>
          <a:xfrm>
            <a:off x="4449888" y="387656"/>
            <a:ext cx="3291900" cy="91530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1" algn="ctr">
              <a:spcBef>
                <a:spcPts val="0"/>
              </a:spcBef>
              <a:spcAft>
                <a:spcPts val="0"/>
              </a:spcAft>
              <a:buNone/>
            </a:pPr>
            <a:r>
              <a:rPr b="1" lang="en-US" sz="2000">
                <a:solidFill>
                  <a:schemeClr val="dk1"/>
                </a:solidFill>
                <a:latin typeface="Vazirmatn"/>
                <a:ea typeface="Vazirmatn"/>
                <a:cs typeface="Vazirmatn"/>
                <a:sym typeface="Vazirmatn"/>
              </a:rPr>
              <a:t>فهرست مطالب</a:t>
            </a:r>
            <a:endParaRPr sz="2000">
              <a:solidFill>
                <a:schemeClr val="dk1"/>
              </a:solidFill>
              <a:latin typeface="Vazirmatn"/>
              <a:ea typeface="Vazirmatn"/>
              <a:cs typeface="Vazirmatn"/>
              <a:sym typeface="Vazirmatn"/>
            </a:endParaRPr>
          </a:p>
        </p:txBody>
      </p:sp>
      <p:sp>
        <p:nvSpPr>
          <p:cNvPr id="106" name="Google Shape;106;p14"/>
          <p:cNvSpPr/>
          <p:nvPr/>
        </p:nvSpPr>
        <p:spPr>
          <a:xfrm>
            <a:off x="1093875" y="1460925"/>
            <a:ext cx="6471900" cy="43530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a:solidFill>
                  <a:srgbClr val="64748B"/>
                </a:solidFill>
                <a:latin typeface="Vazirmatn"/>
                <a:ea typeface="Vazirmatn"/>
                <a:cs typeface="Vazirmatn"/>
                <a:sym typeface="Vazirmatn"/>
              </a:rPr>
              <a:t>تحلیل مشکلات پلتفرم‌های سنتی کتاب و پاسخ فناورانه بوکّده</a:t>
            </a:r>
            <a:endParaRPr>
              <a:solidFill>
                <a:schemeClr val="dk1"/>
              </a:solidFill>
              <a:latin typeface="Vazirmatn"/>
              <a:ea typeface="Vazirmatn"/>
              <a:cs typeface="Vazirmatn"/>
              <a:sym typeface="Vazirmatn"/>
            </a:endParaRPr>
          </a:p>
        </p:txBody>
      </p:sp>
      <p:sp>
        <p:nvSpPr>
          <p:cNvPr id="107" name="Google Shape;107;p14"/>
          <p:cNvSpPr/>
          <p:nvPr/>
        </p:nvSpPr>
        <p:spPr>
          <a:xfrm>
            <a:off x="1093875" y="1985850"/>
            <a:ext cx="6471900" cy="43530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t" bIns="45700" lIns="91425" spcFirstLastPara="1" rIns="91425" wrap="square" tIns="45700">
            <a:noAutofit/>
          </a:bodyPr>
          <a:lstStyle/>
          <a:p>
            <a:pPr indent="0" lvl="0" marL="0" rtl="1" algn="r">
              <a:spcBef>
                <a:spcPts val="0"/>
              </a:spcBef>
              <a:spcAft>
                <a:spcPts val="0"/>
              </a:spcAft>
              <a:buClr>
                <a:schemeClr val="dk1"/>
              </a:buClr>
              <a:buFont typeface="Arial"/>
              <a:buNone/>
            </a:pPr>
            <a:r>
              <a:rPr lang="en-US">
                <a:solidFill>
                  <a:srgbClr val="64748B"/>
                </a:solidFill>
                <a:latin typeface="Vazirmatn"/>
                <a:ea typeface="Vazirmatn"/>
                <a:cs typeface="Vazirmatn"/>
                <a:sym typeface="Vazirmatn"/>
              </a:rPr>
              <a:t>جداسازی شفاف لایه‌ها و تفکیک دامنه‌ها بر پایه اصول Clean Architecture</a:t>
            </a:r>
            <a:endParaRPr>
              <a:solidFill>
                <a:schemeClr val="dk1"/>
              </a:solidFill>
              <a:latin typeface="Vazirmatn"/>
              <a:ea typeface="Vazirmatn"/>
              <a:cs typeface="Vazirmatn"/>
              <a:sym typeface="Vazirmatn"/>
            </a:endParaRPr>
          </a:p>
          <a:p>
            <a:pPr indent="0" lvl="0" marL="0" rtl="0" algn="r">
              <a:spcBef>
                <a:spcPts val="0"/>
              </a:spcBef>
              <a:spcAft>
                <a:spcPts val="0"/>
              </a:spcAft>
              <a:buNone/>
            </a:pPr>
            <a:r>
              <a:t/>
            </a:r>
            <a:endParaRPr>
              <a:solidFill>
                <a:srgbClr val="64748B"/>
              </a:solidFill>
              <a:latin typeface="Vazirmatn"/>
              <a:ea typeface="Vazirmatn"/>
              <a:cs typeface="Vazirmatn"/>
              <a:sym typeface="Vazirmatn"/>
            </a:endParaRPr>
          </a:p>
        </p:txBody>
      </p:sp>
      <p:sp>
        <p:nvSpPr>
          <p:cNvPr id="108" name="Google Shape;108;p14"/>
          <p:cNvSpPr/>
          <p:nvPr/>
        </p:nvSpPr>
        <p:spPr>
          <a:xfrm>
            <a:off x="1093875" y="2561025"/>
            <a:ext cx="6471900" cy="43530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t" bIns="45700" lIns="91425" spcFirstLastPara="1" rIns="91425" wrap="square" tIns="45700">
            <a:noAutofit/>
          </a:bodyPr>
          <a:lstStyle/>
          <a:p>
            <a:pPr indent="0" lvl="0" marL="0" rtl="1" algn="r">
              <a:spcBef>
                <a:spcPts val="0"/>
              </a:spcBef>
              <a:spcAft>
                <a:spcPts val="0"/>
              </a:spcAft>
              <a:buClr>
                <a:schemeClr val="dk1"/>
              </a:buClr>
              <a:buFont typeface="Arial"/>
              <a:buNone/>
            </a:pPr>
            <a:r>
              <a:rPr lang="en-US">
                <a:solidFill>
                  <a:srgbClr val="64748B"/>
                </a:solidFill>
                <a:latin typeface="Vazirmatn"/>
                <a:ea typeface="Vazirmatn"/>
                <a:cs typeface="Vazirmatn"/>
                <a:sym typeface="Vazirmatn"/>
              </a:rPr>
              <a:t>محاسبه چندلایه قیمت، سوابق ممیزی و پلن‌های اشتراک دوره‌ای</a:t>
            </a:r>
            <a:endParaRPr>
              <a:solidFill>
                <a:schemeClr val="dk1"/>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0" algn="r">
              <a:spcBef>
                <a:spcPts val="0"/>
              </a:spcBef>
              <a:spcAft>
                <a:spcPts val="0"/>
              </a:spcAft>
              <a:buNone/>
            </a:pPr>
            <a:r>
              <a:t/>
            </a:r>
            <a:endParaRPr>
              <a:solidFill>
                <a:srgbClr val="64748B"/>
              </a:solidFill>
              <a:latin typeface="Vazirmatn"/>
              <a:ea typeface="Vazirmatn"/>
              <a:cs typeface="Vazirmatn"/>
              <a:sym typeface="Vazirmatn"/>
            </a:endParaRPr>
          </a:p>
        </p:txBody>
      </p:sp>
      <p:sp>
        <p:nvSpPr>
          <p:cNvPr id="109" name="Google Shape;109;p14"/>
          <p:cNvSpPr/>
          <p:nvPr/>
        </p:nvSpPr>
        <p:spPr>
          <a:xfrm>
            <a:off x="1093925" y="3148650"/>
            <a:ext cx="6471900" cy="43530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t" bIns="45700" lIns="91425" spcFirstLastPara="1" rIns="91425" wrap="square" tIns="45700">
            <a:noAutofit/>
          </a:bodyPr>
          <a:lstStyle/>
          <a:p>
            <a:pPr indent="0" lvl="0" marL="0" rtl="1" algn="r">
              <a:spcBef>
                <a:spcPts val="0"/>
              </a:spcBef>
              <a:spcAft>
                <a:spcPts val="0"/>
              </a:spcAft>
              <a:buClr>
                <a:schemeClr val="dk1"/>
              </a:buClr>
              <a:buFont typeface="Arial"/>
              <a:buNone/>
            </a:pPr>
            <a:r>
              <a:rPr lang="en-US">
                <a:solidFill>
                  <a:srgbClr val="64748B"/>
                </a:solidFill>
                <a:latin typeface="Vazirmatn"/>
                <a:ea typeface="Vazirmatn"/>
                <a:cs typeface="Vazirmatn"/>
                <a:sym typeface="Vazirmatn"/>
              </a:rPr>
              <a:t>تسویه حساب امن، دفتر کل حسابداری، اسنپ‌شات سفارش و لایسنس دیجیتال</a:t>
            </a:r>
            <a:endParaRPr>
              <a:solidFill>
                <a:schemeClr val="dk1"/>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0" algn="r">
              <a:spcBef>
                <a:spcPts val="0"/>
              </a:spcBef>
              <a:spcAft>
                <a:spcPts val="0"/>
              </a:spcAft>
              <a:buNone/>
            </a:pPr>
            <a:r>
              <a:t/>
            </a:r>
            <a:endParaRPr>
              <a:solidFill>
                <a:srgbClr val="64748B"/>
              </a:solidFill>
              <a:latin typeface="Vazirmatn"/>
              <a:ea typeface="Vazirmatn"/>
              <a:cs typeface="Vazirmatn"/>
              <a:sym typeface="Vazirmatn"/>
            </a:endParaRPr>
          </a:p>
        </p:txBody>
      </p:sp>
      <p:sp>
        <p:nvSpPr>
          <p:cNvPr id="110" name="Google Shape;110;p14"/>
          <p:cNvSpPr/>
          <p:nvPr/>
        </p:nvSpPr>
        <p:spPr>
          <a:xfrm>
            <a:off x="1093875" y="3730325"/>
            <a:ext cx="6471900" cy="43530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t" bIns="45700" lIns="91425" spcFirstLastPara="1" rIns="91425" wrap="square" tIns="45700">
            <a:noAutofit/>
          </a:bodyPr>
          <a:lstStyle/>
          <a:p>
            <a:pPr indent="0" lvl="0" marL="0" rtl="1" algn="r">
              <a:spcBef>
                <a:spcPts val="0"/>
              </a:spcBef>
              <a:spcAft>
                <a:spcPts val="0"/>
              </a:spcAft>
              <a:buClr>
                <a:schemeClr val="dk1"/>
              </a:buClr>
              <a:buFont typeface="Arial"/>
              <a:buNone/>
            </a:pPr>
            <a:r>
              <a:rPr lang="en-US">
                <a:solidFill>
                  <a:srgbClr val="64748B"/>
                </a:solidFill>
                <a:latin typeface="Vazirmatn"/>
                <a:ea typeface="Vazirmatn"/>
                <a:cs typeface="Vazirmatn"/>
                <a:sym typeface="Vazirmatn"/>
              </a:rPr>
              <a:t>تفکیک وظایف سازمان‌ها، معماری مبتنی بر پیشنهاد و میز کار مقایسه تفاوت (Diff Cards)</a:t>
            </a:r>
            <a:endParaRPr>
              <a:solidFill>
                <a:schemeClr val="dk1"/>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0" algn="r">
              <a:spcBef>
                <a:spcPts val="0"/>
              </a:spcBef>
              <a:spcAft>
                <a:spcPts val="0"/>
              </a:spcAft>
              <a:buNone/>
            </a:pPr>
            <a:r>
              <a:t/>
            </a:r>
            <a:endParaRPr>
              <a:solidFill>
                <a:srgbClr val="64748B"/>
              </a:solidFill>
              <a:latin typeface="Vazirmatn"/>
              <a:ea typeface="Vazirmatn"/>
              <a:cs typeface="Vazirmatn"/>
              <a:sym typeface="Vazirmatn"/>
            </a:endParaRPr>
          </a:p>
        </p:txBody>
      </p:sp>
      <p:sp>
        <p:nvSpPr>
          <p:cNvPr id="111" name="Google Shape;111;p14"/>
          <p:cNvSpPr/>
          <p:nvPr/>
        </p:nvSpPr>
        <p:spPr>
          <a:xfrm>
            <a:off x="1093875" y="4340100"/>
            <a:ext cx="6471900" cy="43530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t" bIns="45700" lIns="91425" spcFirstLastPara="1" rIns="91425" wrap="square" tIns="45700">
            <a:noAutofit/>
          </a:bodyPr>
          <a:lstStyle/>
          <a:p>
            <a:pPr indent="0" lvl="0" marL="0" rtl="1" algn="r">
              <a:spcBef>
                <a:spcPts val="0"/>
              </a:spcBef>
              <a:spcAft>
                <a:spcPts val="0"/>
              </a:spcAft>
              <a:buClr>
                <a:schemeClr val="dk1"/>
              </a:buClr>
              <a:buFont typeface="Arial"/>
              <a:buNone/>
            </a:pPr>
            <a:r>
              <a:rPr lang="en-US">
                <a:solidFill>
                  <a:srgbClr val="64748B"/>
                </a:solidFill>
                <a:latin typeface="Vazirmatn"/>
                <a:ea typeface="Vazirmatn"/>
                <a:cs typeface="Vazirmatn"/>
                <a:sym typeface="Vazirmatn"/>
              </a:rPr>
              <a:t>راهکارهای مهندسی برای سرعت بالا، مقیاس‌پذیری و امنیت داده‌ها</a:t>
            </a:r>
            <a:endParaRPr>
              <a:solidFill>
                <a:schemeClr val="dk1"/>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0" algn="r">
              <a:spcBef>
                <a:spcPts val="0"/>
              </a:spcBef>
              <a:spcAft>
                <a:spcPts val="0"/>
              </a:spcAft>
              <a:buNone/>
            </a:pPr>
            <a:r>
              <a:t/>
            </a:r>
            <a:endParaRPr>
              <a:solidFill>
                <a:srgbClr val="64748B"/>
              </a:solidFill>
              <a:latin typeface="Vazirmatn"/>
              <a:ea typeface="Vazirmatn"/>
              <a:cs typeface="Vazirmatn"/>
              <a:sym typeface="Vazirmatn"/>
            </a:endParaRPr>
          </a:p>
        </p:txBody>
      </p:sp>
      <p:sp>
        <p:nvSpPr>
          <p:cNvPr id="112" name="Google Shape;112;p14"/>
          <p:cNvSpPr/>
          <p:nvPr/>
        </p:nvSpPr>
        <p:spPr>
          <a:xfrm>
            <a:off x="1093875" y="4949875"/>
            <a:ext cx="6471900" cy="435300"/>
          </a:xfrm>
          <a:prstGeom prst="roundRect">
            <a:avLst>
              <a:gd fmla="val 16667" name="adj"/>
            </a:avLst>
          </a:prstGeom>
          <a:solidFill>
            <a:srgbClr val="FFFFFF"/>
          </a:solidFill>
          <a:ln cap="flat" cmpd="sng" w="12700">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t" bIns="45700" lIns="91425" spcFirstLastPara="1" rIns="91425" wrap="square" tIns="45700">
            <a:noAutofit/>
          </a:bodyPr>
          <a:lstStyle/>
          <a:p>
            <a:pPr indent="0" lvl="0" marL="0" rtl="1" algn="r">
              <a:spcBef>
                <a:spcPts val="0"/>
              </a:spcBef>
              <a:spcAft>
                <a:spcPts val="0"/>
              </a:spcAft>
              <a:buClr>
                <a:schemeClr val="dk1"/>
              </a:buClr>
              <a:buFont typeface="Arial"/>
              <a:buNone/>
            </a:pPr>
            <a:r>
              <a:rPr lang="en-US">
                <a:solidFill>
                  <a:srgbClr val="64748B"/>
                </a:solidFill>
                <a:latin typeface="Vazirmatn"/>
                <a:ea typeface="Vazirmatn"/>
                <a:cs typeface="Vazirmatn"/>
                <a:sym typeface="Vazirmatn"/>
              </a:rPr>
              <a:t>ارزیابی دستاوردهای پیاده‌سازی و چشم‌انداز فازهای آینده سامانه</a:t>
            </a:r>
            <a:endParaRPr>
              <a:solidFill>
                <a:schemeClr val="dk1"/>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1" algn="r">
              <a:spcBef>
                <a:spcPts val="0"/>
              </a:spcBef>
              <a:spcAft>
                <a:spcPts val="0"/>
              </a:spcAft>
              <a:buNone/>
            </a:pPr>
            <a:r>
              <a:t/>
            </a:r>
            <a:endParaRPr>
              <a:solidFill>
                <a:srgbClr val="64748B"/>
              </a:solidFill>
              <a:latin typeface="Vazirmatn"/>
              <a:ea typeface="Vazirmatn"/>
              <a:cs typeface="Vazirmatn"/>
              <a:sym typeface="Vazirmatn"/>
            </a:endParaRPr>
          </a:p>
          <a:p>
            <a:pPr indent="0" lvl="0" marL="0" rtl="0" algn="r">
              <a:spcBef>
                <a:spcPts val="0"/>
              </a:spcBef>
              <a:spcAft>
                <a:spcPts val="0"/>
              </a:spcAft>
              <a:buNone/>
            </a:pPr>
            <a:r>
              <a:t/>
            </a:r>
            <a:endParaRPr>
              <a:solidFill>
                <a:srgbClr val="64748B"/>
              </a:solidFill>
              <a:latin typeface="Vazirmatn"/>
              <a:ea typeface="Vazirmatn"/>
              <a:cs typeface="Vazirmatn"/>
              <a:sym typeface="Vazirmat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5"/>
          <p:cNvSpPr/>
          <p:nvPr/>
        </p:nvSpPr>
        <p:spPr>
          <a:xfrm>
            <a:off x="0" y="0"/>
            <a:ext cx="12191695" cy="6858000"/>
          </a:xfrm>
          <a:prstGeom prst="rect">
            <a:avLst/>
          </a:prstGeom>
          <a:solidFill>
            <a:srgbClr val="F8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15"/>
          <p:cNvSpPr/>
          <p:nvPr/>
        </p:nvSpPr>
        <p:spPr>
          <a:xfrm>
            <a:off x="731520" y="365760"/>
            <a:ext cx="3291840" cy="32004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CA7900"/>
                </a:solidFill>
                <a:latin typeface="Vazirmatn"/>
                <a:ea typeface="Vazirmatn"/>
                <a:cs typeface="Vazirmatn"/>
                <a:sym typeface="Vazirmatn"/>
              </a:rPr>
              <a:t>ارزش پیشنهادی و دامنه محصول</a:t>
            </a:r>
            <a:endParaRPr>
              <a:latin typeface="Vazirmatn"/>
              <a:ea typeface="Vazirmatn"/>
              <a:cs typeface="Vazirmatn"/>
              <a:sym typeface="Vazirmatn"/>
            </a:endParaRPr>
          </a:p>
        </p:txBody>
      </p:sp>
      <p:sp>
        <p:nvSpPr>
          <p:cNvPr id="120" name="Google Shape;120;p15"/>
          <p:cNvSpPr txBox="1"/>
          <p:nvPr/>
        </p:nvSpPr>
        <p:spPr>
          <a:xfrm>
            <a:off x="849270" y="287265"/>
            <a:ext cx="10698600" cy="4770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2500" u="none" cap="none" strike="noStrike">
                <a:solidFill>
                  <a:srgbClr val="1E293B"/>
                </a:solidFill>
                <a:latin typeface="Vazirmatn"/>
                <a:ea typeface="Vazirmatn"/>
                <a:cs typeface="Vazirmatn"/>
                <a:sym typeface="Vazirmatn"/>
              </a:rPr>
              <a:t>چرا بوکّده؟ چالش‌های بازار و ارزش‌های پیشنهادی</a:t>
            </a:r>
            <a:endParaRPr>
              <a:latin typeface="Vazirmatn"/>
              <a:ea typeface="Vazirmatn"/>
              <a:cs typeface="Vazirmatn"/>
              <a:sym typeface="Vazirmatn"/>
            </a:endParaRPr>
          </a:p>
        </p:txBody>
      </p:sp>
      <p:sp>
        <p:nvSpPr>
          <p:cNvPr id="121" name="Google Shape;121;p15"/>
          <p:cNvSpPr txBox="1"/>
          <p:nvPr/>
        </p:nvSpPr>
        <p:spPr>
          <a:xfrm>
            <a:off x="731520" y="910475"/>
            <a:ext cx="106986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1400" u="none" cap="none" strike="noStrike">
                <a:solidFill>
                  <a:srgbClr val="64748B"/>
                </a:solidFill>
                <a:latin typeface="Vazirmatn"/>
                <a:ea typeface="Vazirmatn"/>
                <a:cs typeface="Vazirmatn"/>
                <a:sym typeface="Vazirmatn"/>
              </a:rPr>
              <a:t>تحلیل مشکلات پلتفرم‌های سنتی کتاب و پاسخ فناورانه بوکّده</a:t>
            </a:r>
            <a:endParaRPr>
              <a:latin typeface="Vazirmatn"/>
              <a:ea typeface="Vazirmatn"/>
              <a:cs typeface="Vazirmatn"/>
              <a:sym typeface="Vazirmatn"/>
            </a:endParaRPr>
          </a:p>
        </p:txBody>
      </p:sp>
      <p:sp>
        <p:nvSpPr>
          <p:cNvPr id="122" name="Google Shape;122;p15"/>
          <p:cNvSpPr/>
          <p:nvPr/>
        </p:nvSpPr>
        <p:spPr>
          <a:xfrm>
            <a:off x="8219370" y="1704770"/>
            <a:ext cx="3328500" cy="466350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2563EB"/>
                </a:solidFill>
                <a:latin typeface="Vazirmatn"/>
                <a:ea typeface="Vazirmatn"/>
                <a:cs typeface="Vazirmatn"/>
                <a:sym typeface="Vazirmatn"/>
              </a:rPr>
              <a:t>۱. یکپارچگی چندفرمت (Multi-Format)</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چالش: پراکندگی نسخه‌های چاپی، صوتی و الکترونیکی در پلتفرم‌های مجزا</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راهکار: مدل داده متمرکز کاتالوگ با پشتیبانی همزمان از ۳ فرمت روی هر اثر</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انبارداری فیزیکی برای نسخه چاپی + صدور لایسنس دیجیتال DRM برای فایل‌ها</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پشتیبانی کامل دو زبانه بومی (فارسی راست‌به‌چپ و انگلیسی چپ‌به‌راست)</a:t>
            </a:r>
            <a:endParaRPr>
              <a:latin typeface="Vazirmatn"/>
              <a:ea typeface="Vazirmatn"/>
              <a:cs typeface="Vazirmatn"/>
              <a:sym typeface="Vazirmatn"/>
            </a:endParaRPr>
          </a:p>
        </p:txBody>
      </p:sp>
      <p:sp>
        <p:nvSpPr>
          <p:cNvPr id="123" name="Google Shape;123;p15"/>
          <p:cNvSpPr/>
          <p:nvPr/>
        </p:nvSpPr>
        <p:spPr>
          <a:xfrm>
            <a:off x="4425696"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CA7900"/>
                </a:solidFill>
                <a:latin typeface="Vazirmatn"/>
                <a:ea typeface="Vazirmatn"/>
                <a:cs typeface="Vazirmatn"/>
                <a:sym typeface="Vazirmatn"/>
              </a:rPr>
              <a:t>۲. امنیت داده و نظارت نشر (Publishing)</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چالش: ریسک خطای انسانی یا دستکاری مستقیم کاتالوگ و قیمت‌ها توسط ناشران</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راهکار: معماری مبتنی بر پیشنهاد (Proposal Workflow)</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ناشران مستقیم به دیتابیس زنده دسترسی ندارند و پیشنهاد ثبت می‌کنند</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میز کار اختصاصی ممیزی ادمین با کارت‌های مقایسه تفاوت قبل و بعد (Diff Cards)</a:t>
            </a:r>
            <a:endParaRPr>
              <a:latin typeface="Vazirmatn"/>
              <a:ea typeface="Vazirmatn"/>
              <a:cs typeface="Vazirmatn"/>
              <a:sym typeface="Vazirmatn"/>
            </a:endParaRPr>
          </a:p>
        </p:txBody>
      </p:sp>
      <p:sp>
        <p:nvSpPr>
          <p:cNvPr id="124" name="Google Shape;124;p15"/>
          <p:cNvSpPr/>
          <p:nvPr/>
        </p:nvSpPr>
        <p:spPr>
          <a:xfrm>
            <a:off x="694922" y="1645957"/>
            <a:ext cx="3328500" cy="466350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059669"/>
                </a:solidFill>
                <a:latin typeface="Vazirmatn"/>
                <a:ea typeface="Vazirmatn"/>
                <a:cs typeface="Vazirmatn"/>
                <a:sym typeface="Vazirmatn"/>
              </a:rPr>
              <a:t>۳. تجربه کاربری بی‌درنگ (Real-Time UX)</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چالش: لودینگ‌های مکرر، تاخیر و از دست رفتن سبد خرید کاربران مهمان</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راهکار: کشینگ کلاینت با TanStack React Query v5 و حذف پرش لودینگ</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ادغام خودکار سبد مهمان با حساب کاربری پس از ورود (Cart Merge)</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همگام‌سازی بلادرنگ موجودی کیف‌پول و سبد خرید بدون رفرش صفحه</a:t>
            </a:r>
            <a:endParaRPr>
              <a:latin typeface="Vazirmatn"/>
              <a:ea typeface="Vazirmatn"/>
              <a:cs typeface="Vazirmatn"/>
              <a:sym typeface="Vazirmat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6"/>
          <p:cNvSpPr/>
          <p:nvPr/>
        </p:nvSpPr>
        <p:spPr>
          <a:xfrm>
            <a:off x="0" y="0"/>
            <a:ext cx="12191695" cy="6858000"/>
          </a:xfrm>
          <a:prstGeom prst="rect">
            <a:avLst/>
          </a:prstGeom>
          <a:solidFill>
            <a:srgbClr val="F8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6"/>
          <p:cNvSpPr/>
          <p:nvPr/>
        </p:nvSpPr>
        <p:spPr>
          <a:xfrm>
            <a:off x="731520" y="365760"/>
            <a:ext cx="3291840" cy="32004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CA7900"/>
                </a:solidFill>
                <a:latin typeface="Vazirmatn"/>
                <a:ea typeface="Vazirmatn"/>
                <a:cs typeface="Vazirmatn"/>
                <a:sym typeface="Vazirmatn"/>
              </a:rPr>
              <a:t>مهندسی زیرساخت</a:t>
            </a:r>
            <a:endParaRPr>
              <a:latin typeface="Vazirmatn"/>
              <a:ea typeface="Vazirmatn"/>
              <a:cs typeface="Vazirmatn"/>
              <a:sym typeface="Vazirmatn"/>
            </a:endParaRPr>
          </a:p>
        </p:txBody>
      </p:sp>
      <p:sp>
        <p:nvSpPr>
          <p:cNvPr id="132" name="Google Shape;132;p16"/>
          <p:cNvSpPr txBox="1"/>
          <p:nvPr/>
        </p:nvSpPr>
        <p:spPr>
          <a:xfrm>
            <a:off x="731520" y="287265"/>
            <a:ext cx="10698600" cy="8619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b="1" i="0" lang="en-US" sz="2500" u="none" cap="none" strike="noStrike">
                <a:solidFill>
                  <a:srgbClr val="1E293B"/>
                </a:solidFill>
                <a:latin typeface="Vazirmatn"/>
                <a:ea typeface="Vazirmatn"/>
                <a:cs typeface="Vazirmatn"/>
                <a:sym typeface="Vazirmatn"/>
              </a:rPr>
              <a:t>معماری کلان سیستم و پشته فناوری</a:t>
            </a:r>
            <a:endParaRPr b="1" sz="2500">
              <a:solidFill>
                <a:srgbClr val="1E293B"/>
              </a:solidFill>
              <a:latin typeface="Vazirmatn"/>
              <a:ea typeface="Vazirmatn"/>
              <a:cs typeface="Vazirmatn"/>
              <a:sym typeface="Vazirmatn"/>
            </a:endParaRPr>
          </a:p>
          <a:p>
            <a:pPr indent="0" lvl="0" marL="0" marR="0" rtl="1" algn="r">
              <a:spcBef>
                <a:spcPts val="0"/>
              </a:spcBef>
              <a:spcAft>
                <a:spcPts val="0"/>
              </a:spcAft>
              <a:buNone/>
            </a:pPr>
            <a:r>
              <a:rPr b="1" i="0" lang="en-US" sz="2500" u="none" cap="none" strike="noStrike">
                <a:solidFill>
                  <a:srgbClr val="1E293B"/>
                </a:solidFill>
                <a:latin typeface="Vazirmatn"/>
                <a:ea typeface="Vazirmatn"/>
                <a:cs typeface="Vazirmatn"/>
                <a:sym typeface="Vazirmatn"/>
              </a:rPr>
              <a:t>(Architecture &amp; Stack)</a:t>
            </a:r>
            <a:endParaRPr>
              <a:latin typeface="Vazirmatn"/>
              <a:ea typeface="Vazirmatn"/>
              <a:cs typeface="Vazirmatn"/>
              <a:sym typeface="Vazirmatn"/>
            </a:endParaRPr>
          </a:p>
        </p:txBody>
      </p:sp>
      <p:sp>
        <p:nvSpPr>
          <p:cNvPr id="133" name="Google Shape;133;p16"/>
          <p:cNvSpPr txBox="1"/>
          <p:nvPr/>
        </p:nvSpPr>
        <p:spPr>
          <a:xfrm>
            <a:off x="740595" y="1195000"/>
            <a:ext cx="10698600" cy="3078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i="0" lang="en-US" sz="1400" u="none" cap="none" strike="noStrike">
                <a:solidFill>
                  <a:srgbClr val="64748B"/>
                </a:solidFill>
                <a:latin typeface="Vazirmatn"/>
                <a:ea typeface="Vazirmatn"/>
                <a:cs typeface="Vazirmatn"/>
                <a:sym typeface="Vazirmatn"/>
              </a:rPr>
              <a:t>جداسازی شفاف لایه‌ها و تفکیک دامنه‌ها بر پایه اصول Clean Architecture</a:t>
            </a:r>
            <a:endParaRPr>
              <a:latin typeface="Vazirmatn"/>
              <a:ea typeface="Vazirmatn"/>
              <a:cs typeface="Vazirmatn"/>
              <a:sym typeface="Vazirmatn"/>
            </a:endParaRPr>
          </a:p>
        </p:txBody>
      </p:sp>
      <p:sp>
        <p:nvSpPr>
          <p:cNvPr id="134" name="Google Shape;134;p16"/>
          <p:cNvSpPr/>
          <p:nvPr/>
        </p:nvSpPr>
        <p:spPr>
          <a:xfrm>
            <a:off x="731520"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2563EB"/>
                </a:solidFill>
                <a:latin typeface="Vazirmatn"/>
                <a:ea typeface="Vazirmatn"/>
                <a:cs typeface="Vazirmatn"/>
                <a:sym typeface="Vazirmatn"/>
              </a:rPr>
              <a:t>لایه کلاینت (React 19 SPA)</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React 19 و معماری کامپوننت‌محور مدرن</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TanStack React Query v5 برای مدیریت کش، حذف کوئری‌های تکراری و آپدیت پس‌زمینه</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Context API برای مدیریت وضعیت احراز هویت، تم و زبان</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پشتیبانی دو جهته بومی (RTL فارسی / LTR انگلیسی)</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استایل‌های ماژولار و رابط مدرن بدون پرش لودینگ</a:t>
            </a:r>
            <a:endParaRPr>
              <a:latin typeface="Vazirmatn"/>
              <a:ea typeface="Vazirmatn"/>
              <a:cs typeface="Vazirmatn"/>
              <a:sym typeface="Vazirmatn"/>
            </a:endParaRPr>
          </a:p>
        </p:txBody>
      </p:sp>
      <p:sp>
        <p:nvSpPr>
          <p:cNvPr id="135" name="Google Shape;135;p16"/>
          <p:cNvSpPr/>
          <p:nvPr/>
        </p:nvSpPr>
        <p:spPr>
          <a:xfrm>
            <a:off x="4425696"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CA7900"/>
                </a:solidFill>
                <a:latin typeface="Vazirmatn"/>
                <a:ea typeface="Vazirmatn"/>
                <a:cs typeface="Vazirmatn"/>
                <a:sym typeface="Vazirmatn"/>
              </a:rPr>
              <a:t>سرویس‌های API (Django 5.2 &amp; DRF)</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توسعه ماژولار بر مبنای ۸ اپلیکیشن جنگو کامپوننت‌محور:</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 Accounts (احراز هویت Passwordless OTP و JWT)</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 Catalog (کاتالوگ چندفرمته و جستجوی تمام‌متن)</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 Pricing (موتور قیمت‌گذاری پویا و اشتراک VIP)</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 Cart &amp; Content (سبد، سفارشات، لایسنس DRM)</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 Publishing &amp; Wallet (نظارت پروپوزال و </a:t>
            </a:r>
            <a:r>
              <a:rPr lang="en-US" sz="1300">
                <a:solidFill>
                  <a:srgbClr val="334155"/>
                </a:solidFill>
                <a:latin typeface="Vazirmatn"/>
                <a:ea typeface="Vazirmatn"/>
                <a:cs typeface="Vazirmatn"/>
                <a:sym typeface="Vazirmatn"/>
              </a:rPr>
              <a:t>دفتر کل</a:t>
            </a:r>
            <a:r>
              <a:rPr i="0" lang="en-US" sz="1300" u="none" cap="none" strike="noStrike">
                <a:solidFill>
                  <a:srgbClr val="334155"/>
                </a:solidFill>
                <a:latin typeface="Vazirmatn"/>
                <a:ea typeface="Vazirmatn"/>
                <a:cs typeface="Vazirmatn"/>
                <a:sym typeface="Vazirmatn"/>
              </a:rPr>
              <a:t> مالی)</a:t>
            </a:r>
            <a:endParaRPr>
              <a:latin typeface="Vazirmatn"/>
              <a:ea typeface="Vazirmatn"/>
              <a:cs typeface="Vazirmatn"/>
              <a:sym typeface="Vazirmatn"/>
            </a:endParaRPr>
          </a:p>
        </p:txBody>
      </p:sp>
      <p:sp>
        <p:nvSpPr>
          <p:cNvPr id="136" name="Google Shape;136;p16"/>
          <p:cNvSpPr/>
          <p:nvPr/>
        </p:nvSpPr>
        <p:spPr>
          <a:xfrm>
            <a:off x="8119872"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059669"/>
                </a:solidFill>
                <a:latin typeface="Vazirmatn"/>
                <a:ea typeface="Vazirmatn"/>
                <a:cs typeface="Vazirmatn"/>
                <a:sym typeface="Vazirmatn"/>
              </a:rPr>
              <a:t>داده و پردازش ناهمگام (Data &amp; Async)</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PostgreSQL: پایگاه داده رابطه‌ای برای داده‌های ساخت‌یافته و اسنپ‌شات سفارشات</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Redis 7: پایگاه داده حافظه‌ای برای صف پیام و محدودکننده نرخ درخواست</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Celery &amp; Celery Beat: زمان‌بندی ارسال ایمیل‌ها و پاکسازی رکوردهای منقضی</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قفل‌های اتمیک بانکی دیتابیس با دستور select_for_update</a:t>
            </a:r>
            <a:endParaRPr>
              <a:latin typeface="Vazirmatn"/>
              <a:ea typeface="Vazirmatn"/>
              <a:cs typeface="Vazirmatn"/>
              <a:sym typeface="Vazirmat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7"/>
          <p:cNvSpPr/>
          <p:nvPr/>
        </p:nvSpPr>
        <p:spPr>
          <a:xfrm>
            <a:off x="0" y="0"/>
            <a:ext cx="12191695" cy="6858000"/>
          </a:xfrm>
          <a:prstGeom prst="rect">
            <a:avLst/>
          </a:prstGeom>
          <a:solidFill>
            <a:srgbClr val="F8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17"/>
          <p:cNvSpPr/>
          <p:nvPr/>
        </p:nvSpPr>
        <p:spPr>
          <a:xfrm>
            <a:off x="731520" y="365760"/>
            <a:ext cx="3291840" cy="32004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1100" u="none" cap="none" strike="noStrike">
                <a:solidFill>
                  <a:srgbClr val="CA7900"/>
                </a:solidFill>
                <a:latin typeface="Vazirmatn"/>
                <a:ea typeface="Vazirmatn"/>
                <a:cs typeface="Vazirmatn"/>
                <a:sym typeface="Vazirmatn"/>
              </a:rPr>
              <a:t>کاتالوگ و قیمت‌گذاری</a:t>
            </a:r>
            <a:endParaRPr>
              <a:latin typeface="Vazirmatn"/>
              <a:ea typeface="Vazirmatn"/>
              <a:cs typeface="Vazirmatn"/>
              <a:sym typeface="Vazirmatn"/>
            </a:endParaRPr>
          </a:p>
        </p:txBody>
      </p:sp>
      <p:sp>
        <p:nvSpPr>
          <p:cNvPr id="144" name="Google Shape;144;p17"/>
          <p:cNvSpPr txBox="1"/>
          <p:nvPr/>
        </p:nvSpPr>
        <p:spPr>
          <a:xfrm>
            <a:off x="682470" y="287265"/>
            <a:ext cx="10698600" cy="8619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b="1" i="0" lang="en-US" sz="2500" u="none" cap="none" strike="noStrike">
                <a:solidFill>
                  <a:srgbClr val="1E293B"/>
                </a:solidFill>
                <a:latin typeface="Vazirmatn"/>
                <a:ea typeface="Vazirmatn"/>
                <a:cs typeface="Vazirmatn"/>
                <a:sym typeface="Vazirmatn"/>
              </a:rPr>
              <a:t>کاتالوگ چندفرمت</a:t>
            </a:r>
            <a:r>
              <a:rPr b="1" lang="en-US" sz="2500">
                <a:solidFill>
                  <a:srgbClr val="1E293B"/>
                </a:solidFill>
                <a:latin typeface="Vazirmatn"/>
                <a:ea typeface="Vazirmatn"/>
                <a:cs typeface="Vazirmatn"/>
                <a:sym typeface="Vazirmatn"/>
              </a:rPr>
              <a:t>ه</a:t>
            </a:r>
            <a:r>
              <a:rPr b="1" i="0" lang="en-US" sz="2500" u="none" cap="none" strike="noStrike">
                <a:solidFill>
                  <a:srgbClr val="1E293B"/>
                </a:solidFill>
                <a:latin typeface="Vazirmatn"/>
                <a:ea typeface="Vazirmatn"/>
                <a:cs typeface="Vazirmatn"/>
                <a:sym typeface="Vazirmatn"/>
              </a:rPr>
              <a:t> و موتور قیمت‌گذاری پویا</a:t>
            </a:r>
            <a:endParaRPr b="1" sz="2500">
              <a:solidFill>
                <a:srgbClr val="1E293B"/>
              </a:solidFill>
              <a:latin typeface="Vazirmatn"/>
              <a:ea typeface="Vazirmatn"/>
              <a:cs typeface="Vazirmatn"/>
              <a:sym typeface="Vazirmatn"/>
            </a:endParaRPr>
          </a:p>
          <a:p>
            <a:pPr indent="0" lvl="0" marL="0" marR="0" rtl="1" algn="r">
              <a:spcBef>
                <a:spcPts val="0"/>
              </a:spcBef>
              <a:spcAft>
                <a:spcPts val="0"/>
              </a:spcAft>
              <a:buNone/>
            </a:pPr>
            <a:r>
              <a:rPr b="1" i="0" lang="en-US" sz="2500" u="none" cap="none" strike="noStrike">
                <a:solidFill>
                  <a:srgbClr val="1E293B"/>
                </a:solidFill>
                <a:latin typeface="Vazirmatn"/>
                <a:ea typeface="Vazirmatn"/>
                <a:cs typeface="Vazirmatn"/>
                <a:sym typeface="Vazirmatn"/>
              </a:rPr>
              <a:t>(Pricing Pipeline)</a:t>
            </a:r>
            <a:endParaRPr>
              <a:latin typeface="Vazirmatn"/>
              <a:ea typeface="Vazirmatn"/>
              <a:cs typeface="Vazirmatn"/>
              <a:sym typeface="Vazirmatn"/>
            </a:endParaRPr>
          </a:p>
        </p:txBody>
      </p:sp>
      <p:sp>
        <p:nvSpPr>
          <p:cNvPr id="145" name="Google Shape;145;p17"/>
          <p:cNvSpPr txBox="1"/>
          <p:nvPr/>
        </p:nvSpPr>
        <p:spPr>
          <a:xfrm>
            <a:off x="740595" y="1149175"/>
            <a:ext cx="10698600" cy="3078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i="0" lang="en-US" sz="1400" u="none" cap="none" strike="noStrike">
                <a:solidFill>
                  <a:srgbClr val="64748B"/>
                </a:solidFill>
                <a:latin typeface="Vazirmatn"/>
                <a:ea typeface="Vazirmatn"/>
                <a:cs typeface="Vazirmatn"/>
                <a:sym typeface="Vazirmatn"/>
              </a:rPr>
              <a:t>محاسبه چندلایه قیمت، سوابق ممیزی و پلن‌های اشتراک دوره‌ای</a:t>
            </a:r>
            <a:endParaRPr>
              <a:latin typeface="Vazirmatn"/>
              <a:ea typeface="Vazirmatn"/>
              <a:cs typeface="Vazirmatn"/>
              <a:sym typeface="Vazirmatn"/>
            </a:endParaRPr>
          </a:p>
        </p:txBody>
      </p:sp>
      <p:sp>
        <p:nvSpPr>
          <p:cNvPr id="146" name="Google Shape;146;p17"/>
          <p:cNvSpPr/>
          <p:nvPr/>
        </p:nvSpPr>
        <p:spPr>
          <a:xfrm>
            <a:off x="731520"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2563EB"/>
                </a:solidFill>
                <a:latin typeface="Vazirmatn"/>
                <a:ea typeface="Vazirmatn"/>
                <a:cs typeface="Vazirmatn"/>
                <a:sym typeface="Vazirmatn"/>
              </a:rPr>
              <a:t>کاتالوگ چندفرمت و تاکسونومی</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پوشش همزمان نسخه‌های چاپی (انبارداری)، صوتی (Audiobook) و دیجیتال (PDF/EPUB)</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دسته‌بندی چندسطحی: ژانرها، برچسب‌های محتوایی و پروفایل نویسندگان</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جستجوی تمام‌متن با سرعت بالا در PostgreSQL Full-Text Search</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پشتیبانی بومی از تغییر زنده زبان سامانه (فارسی و انگلیسی)</a:t>
            </a:r>
            <a:endParaRPr>
              <a:latin typeface="Vazirmatn"/>
              <a:ea typeface="Vazirmatn"/>
              <a:cs typeface="Vazirmatn"/>
              <a:sym typeface="Vazirmatn"/>
            </a:endParaRPr>
          </a:p>
        </p:txBody>
      </p:sp>
      <p:sp>
        <p:nvSpPr>
          <p:cNvPr id="147" name="Google Shape;147;p17"/>
          <p:cNvSpPr/>
          <p:nvPr/>
        </p:nvSpPr>
        <p:spPr>
          <a:xfrm>
            <a:off x="4425696"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CA7900"/>
                </a:solidFill>
                <a:latin typeface="Vazirmatn"/>
                <a:ea typeface="Vazirmatn"/>
                <a:cs typeface="Vazirmatn"/>
                <a:sym typeface="Vazirmatn"/>
              </a:rPr>
              <a:t>خط‌لوله متمرکز قیمت‌گذاری</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فرمول محاسباتی </a:t>
            </a:r>
            <a:r>
              <a:rPr i="0" lang="en-US" sz="1300" u="none" cap="none" strike="noStrike">
                <a:solidFill>
                  <a:srgbClr val="334155"/>
                </a:solidFill>
                <a:latin typeface="Vazirmatn"/>
                <a:ea typeface="Vazirmatn"/>
                <a:cs typeface="Vazirmatn"/>
                <a:sym typeface="Vazirmatn"/>
              </a:rPr>
              <a:t>چندلایه</a:t>
            </a:r>
            <a:r>
              <a:rPr i="0" lang="en-US" sz="1300" u="none" cap="none" strike="noStrike">
                <a:solidFill>
                  <a:srgbClr val="334155"/>
                </a:solidFill>
                <a:latin typeface="Vazirmatn"/>
                <a:ea typeface="Vazirmatn"/>
                <a:cs typeface="Vazirmatn"/>
                <a:sym typeface="Vazirmatn"/>
              </a:rPr>
              <a:t>: (قیمت پایه فرمت - تخفیف اتوماتیک - سهم VIP) + کوپن</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جدول ممیزی تغییرات قیمت (Price History) با ثبت زمان و شناسه مدیر مسئول</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موتور اعتبارسنجی کدهای تخفیف با بررسی سقف استفاده و حداقل مبلغ سبد خرید</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محاسبه بلادرنگ قیمت نهایی در فاکتور بدون وابستگی به فیلد استاتیک</a:t>
            </a:r>
            <a:endParaRPr>
              <a:latin typeface="Vazirmatn"/>
              <a:ea typeface="Vazirmatn"/>
              <a:cs typeface="Vazirmatn"/>
              <a:sym typeface="Vazirmatn"/>
            </a:endParaRPr>
          </a:p>
        </p:txBody>
      </p:sp>
      <p:sp>
        <p:nvSpPr>
          <p:cNvPr id="148" name="Google Shape;148;p17"/>
          <p:cNvSpPr/>
          <p:nvPr/>
        </p:nvSpPr>
        <p:spPr>
          <a:xfrm>
            <a:off x="8119872"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059669"/>
                </a:solidFill>
                <a:latin typeface="Vazirmatn"/>
                <a:ea typeface="Vazirmatn"/>
                <a:cs typeface="Vazirmatn"/>
                <a:sym typeface="Vazirmatn"/>
              </a:rPr>
              <a:t>اشتراک‌های VIP و انعطاف مالی</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سطوح اشتراک اعضا: پلن طلایی (۳۰٪) و پلن نقره‌ای (۱۵٪) تخفیف خودکار در خریدها</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چرخه صورت‌حساب دوره‌ای ۳۰ روزه با تمدید خودکار</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قابلیت لغو آنی اشتراک با بازپرداخت نسبی و منصفانه (Prorated Refund) به کیف‌پول</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نمایش نشانگر و تخفیف VIP در تمامی صفحات کاتالوگ</a:t>
            </a:r>
            <a:endParaRPr>
              <a:latin typeface="Vazirmatn"/>
              <a:ea typeface="Vazirmatn"/>
              <a:cs typeface="Vazirmatn"/>
              <a:sym typeface="Vazirmat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8"/>
          <p:cNvSpPr/>
          <p:nvPr/>
        </p:nvSpPr>
        <p:spPr>
          <a:xfrm>
            <a:off x="0" y="0"/>
            <a:ext cx="12191695" cy="6858000"/>
          </a:xfrm>
          <a:prstGeom prst="rect">
            <a:avLst/>
          </a:prstGeom>
          <a:solidFill>
            <a:srgbClr val="F8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8"/>
          <p:cNvSpPr/>
          <p:nvPr/>
        </p:nvSpPr>
        <p:spPr>
          <a:xfrm>
            <a:off x="731520" y="365760"/>
            <a:ext cx="3291840" cy="32004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1100" u="none" cap="none" strike="noStrike">
                <a:solidFill>
                  <a:srgbClr val="CA7900"/>
                </a:solidFill>
                <a:latin typeface="Vazirmatn"/>
                <a:ea typeface="Vazirmatn"/>
                <a:cs typeface="Vazirmatn"/>
                <a:sym typeface="Vazirmatn"/>
              </a:rPr>
              <a:t>تجارت الکترونیک و پرداخت</a:t>
            </a:r>
            <a:endParaRPr>
              <a:latin typeface="Vazirmatn"/>
              <a:ea typeface="Vazirmatn"/>
              <a:cs typeface="Vazirmatn"/>
              <a:sym typeface="Vazirmatn"/>
            </a:endParaRPr>
          </a:p>
        </p:txBody>
      </p:sp>
      <p:sp>
        <p:nvSpPr>
          <p:cNvPr id="156" name="Google Shape;156;p18"/>
          <p:cNvSpPr txBox="1"/>
          <p:nvPr/>
        </p:nvSpPr>
        <p:spPr>
          <a:xfrm>
            <a:off x="731532" y="287265"/>
            <a:ext cx="10698600" cy="8619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b="1" i="0" lang="en-US" sz="2500" u="none" cap="none" strike="noStrike">
                <a:solidFill>
                  <a:srgbClr val="1E293B"/>
                </a:solidFill>
                <a:latin typeface="Vazirmatn"/>
                <a:ea typeface="Vazirmatn"/>
                <a:cs typeface="Vazirmatn"/>
                <a:sym typeface="Vazirmatn"/>
              </a:rPr>
              <a:t>چرخه خرید، سبد ادغام‌پذیر و کیف‌پول داخلی</a:t>
            </a:r>
            <a:endParaRPr b="1" sz="2500">
              <a:solidFill>
                <a:srgbClr val="1E293B"/>
              </a:solidFill>
              <a:latin typeface="Vazirmatn"/>
              <a:ea typeface="Vazirmatn"/>
              <a:cs typeface="Vazirmatn"/>
              <a:sym typeface="Vazirmatn"/>
            </a:endParaRPr>
          </a:p>
          <a:p>
            <a:pPr indent="0" lvl="0" marL="0" marR="0" rtl="1" algn="r">
              <a:spcBef>
                <a:spcPts val="0"/>
              </a:spcBef>
              <a:spcAft>
                <a:spcPts val="0"/>
              </a:spcAft>
              <a:buNone/>
            </a:pPr>
            <a:r>
              <a:rPr b="1" i="0" lang="en-US" sz="2500" u="none" cap="none" strike="noStrike">
                <a:solidFill>
                  <a:srgbClr val="1E293B"/>
                </a:solidFill>
                <a:latin typeface="Vazirmatn"/>
                <a:ea typeface="Vazirmatn"/>
                <a:cs typeface="Vazirmatn"/>
                <a:sym typeface="Vazirmatn"/>
              </a:rPr>
              <a:t>(Commerce &amp; Wallet)</a:t>
            </a:r>
            <a:endParaRPr>
              <a:latin typeface="Vazirmatn"/>
              <a:ea typeface="Vazirmatn"/>
              <a:cs typeface="Vazirmatn"/>
              <a:sym typeface="Vazirmatn"/>
            </a:endParaRPr>
          </a:p>
        </p:txBody>
      </p:sp>
      <p:sp>
        <p:nvSpPr>
          <p:cNvPr id="157" name="Google Shape;157;p18"/>
          <p:cNvSpPr txBox="1"/>
          <p:nvPr/>
        </p:nvSpPr>
        <p:spPr>
          <a:xfrm>
            <a:off x="749695" y="1156725"/>
            <a:ext cx="10698600" cy="3078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i="0" lang="en-US" sz="1400" u="none" cap="none" strike="noStrike">
                <a:solidFill>
                  <a:srgbClr val="64748B"/>
                </a:solidFill>
                <a:latin typeface="Vazirmatn"/>
                <a:ea typeface="Vazirmatn"/>
                <a:cs typeface="Vazirmatn"/>
                <a:sym typeface="Vazirmatn"/>
              </a:rPr>
              <a:t>تسویه حساب امن، دفتر کل حسابداری، اسنپ‌شات سفارش و لایسنس دیجیتال</a:t>
            </a:r>
            <a:endParaRPr>
              <a:latin typeface="Vazirmatn"/>
              <a:ea typeface="Vazirmatn"/>
              <a:cs typeface="Vazirmatn"/>
              <a:sym typeface="Vazirmatn"/>
            </a:endParaRPr>
          </a:p>
        </p:txBody>
      </p:sp>
      <p:sp>
        <p:nvSpPr>
          <p:cNvPr id="158" name="Google Shape;158;p18"/>
          <p:cNvSpPr/>
          <p:nvPr/>
        </p:nvSpPr>
        <p:spPr>
          <a:xfrm>
            <a:off x="731520"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2563EB"/>
                </a:solidFill>
                <a:latin typeface="Vazirmatn"/>
                <a:ea typeface="Vazirmatn"/>
                <a:cs typeface="Vazirmatn"/>
                <a:sym typeface="Vazirmatn"/>
              </a:rPr>
              <a:t>ادغام سبد خرید (Cart Merge)</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سبد خرید میهمان در Session بدون اجبار کاربر به لاگین اولیه</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ادغام خودکار و بدون تداخل با دیتابیس بلافاصله پس از ورود کاربر به حساب</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به‌روزرسانی لحظه‌ای نشانگر هدر با TanStack Query بدون نیاز به رفرش</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بررسی همزمان موجودی انبار اقلام چاپی قبل از نهایی‌سازی فاکتور</a:t>
            </a:r>
            <a:endParaRPr>
              <a:latin typeface="Vazirmatn"/>
              <a:ea typeface="Vazirmatn"/>
              <a:cs typeface="Vazirmatn"/>
              <a:sym typeface="Vazirmatn"/>
            </a:endParaRPr>
          </a:p>
        </p:txBody>
      </p:sp>
      <p:sp>
        <p:nvSpPr>
          <p:cNvPr id="159" name="Google Shape;159;p18"/>
          <p:cNvSpPr/>
          <p:nvPr/>
        </p:nvSpPr>
        <p:spPr>
          <a:xfrm>
            <a:off x="4425696"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059669"/>
                </a:solidFill>
                <a:latin typeface="Vazirmatn"/>
                <a:ea typeface="Vazirmatn"/>
                <a:cs typeface="Vazirmatn"/>
                <a:sym typeface="Vazirmatn"/>
              </a:rPr>
              <a:t>دفتر کل کیف‌پول (Wallet Ledger)</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دفتر کل حسابداری دوطرفه (Double-entry) برای ثبت شفاف واریز، کسر و استرداد وجه</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جلوگیری قطعی از Race Condition و برداشت همزمان با قفل select_for_update</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اسنپ‌شات سفارش تغییرناپذیر (Immutable Order Snapshot) جهت تضمین ثبات فاکتور</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استرداد وجه به کیف‌پول کاربر در صورت لغو مجاز سفارش</a:t>
            </a:r>
            <a:endParaRPr>
              <a:latin typeface="Vazirmatn"/>
              <a:ea typeface="Vazirmatn"/>
              <a:cs typeface="Vazirmatn"/>
              <a:sym typeface="Vazirmatn"/>
            </a:endParaRPr>
          </a:p>
        </p:txBody>
      </p:sp>
      <p:sp>
        <p:nvSpPr>
          <p:cNvPr id="160" name="Google Shape;160;p18"/>
          <p:cNvSpPr/>
          <p:nvPr/>
        </p:nvSpPr>
        <p:spPr>
          <a:xfrm>
            <a:off x="8119872"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CA7900"/>
                </a:solidFill>
                <a:latin typeface="Vazirmatn"/>
                <a:ea typeface="Vazirmatn"/>
                <a:cs typeface="Vazirmatn"/>
                <a:sym typeface="Vazirmatn"/>
              </a:rPr>
              <a:t>لایسنس دیجیتال و کتابخوان امن</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صدور خودکار لایسنس دیجیتال برای نسخه‌های صوتی و الکترونیکی بلافاصله پس از پرداخت</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دسترسی مستقیم کاربر به کتابخوان اختصاصی PDF و پلیر صوت در قفسه من (Shelf)</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کنترل امنیتی دسترسی به فایل‌ها و جلوگیری از انتشار غیرمجاز</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ابطال خودکار لایسنس در صورت استرداد یا لغو سفارش</a:t>
            </a:r>
            <a:endParaRPr>
              <a:latin typeface="Vazirmatn"/>
              <a:ea typeface="Vazirmatn"/>
              <a:cs typeface="Vazirmatn"/>
              <a:sym typeface="Vazirmat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9"/>
          <p:cNvSpPr/>
          <p:nvPr/>
        </p:nvSpPr>
        <p:spPr>
          <a:xfrm>
            <a:off x="0" y="0"/>
            <a:ext cx="12191695" cy="6858000"/>
          </a:xfrm>
          <a:prstGeom prst="rect">
            <a:avLst/>
          </a:prstGeom>
          <a:solidFill>
            <a:srgbClr val="F8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19"/>
          <p:cNvSpPr/>
          <p:nvPr/>
        </p:nvSpPr>
        <p:spPr>
          <a:xfrm>
            <a:off x="731520" y="365760"/>
            <a:ext cx="3291840" cy="32004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1100" u="none" cap="none" strike="noStrike">
                <a:solidFill>
                  <a:srgbClr val="CA7900"/>
                </a:solidFill>
                <a:latin typeface="Vazirmatn"/>
                <a:ea typeface="Vazirmatn"/>
                <a:cs typeface="Vazirmatn"/>
                <a:sym typeface="Vazirmatn"/>
              </a:rPr>
              <a:t>مدیریت نشر و ممیزی</a:t>
            </a:r>
            <a:endParaRPr>
              <a:latin typeface="Vazirmatn"/>
              <a:ea typeface="Vazirmatn"/>
              <a:cs typeface="Vazirmatn"/>
              <a:sym typeface="Vazirmatn"/>
            </a:endParaRPr>
          </a:p>
        </p:txBody>
      </p:sp>
      <p:sp>
        <p:nvSpPr>
          <p:cNvPr id="168" name="Google Shape;168;p19"/>
          <p:cNvSpPr txBox="1"/>
          <p:nvPr/>
        </p:nvSpPr>
        <p:spPr>
          <a:xfrm>
            <a:off x="731520" y="237640"/>
            <a:ext cx="10698600" cy="8619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b="1" i="0" lang="en-US" sz="2500" u="none" cap="none" strike="noStrike">
                <a:solidFill>
                  <a:srgbClr val="1E293B"/>
                </a:solidFill>
                <a:latin typeface="Vazirmatn"/>
                <a:ea typeface="Vazirmatn"/>
                <a:cs typeface="Vazirmatn"/>
                <a:sym typeface="Vazirmatn"/>
              </a:rPr>
              <a:t>پرتال اختصاصی ناشران و نظارت هوشمند تحریریه</a:t>
            </a:r>
            <a:endParaRPr b="1" sz="2500">
              <a:solidFill>
                <a:srgbClr val="1E293B"/>
              </a:solidFill>
              <a:latin typeface="Vazirmatn"/>
              <a:ea typeface="Vazirmatn"/>
              <a:cs typeface="Vazirmatn"/>
              <a:sym typeface="Vazirmatn"/>
            </a:endParaRPr>
          </a:p>
          <a:p>
            <a:pPr indent="0" lvl="0" marL="0" marR="0" rtl="1" algn="r">
              <a:spcBef>
                <a:spcPts val="0"/>
              </a:spcBef>
              <a:spcAft>
                <a:spcPts val="0"/>
              </a:spcAft>
              <a:buNone/>
            </a:pPr>
            <a:r>
              <a:rPr b="1" i="0" lang="en-US" sz="2500" u="none" cap="none" strike="noStrike">
                <a:solidFill>
                  <a:srgbClr val="1E293B"/>
                </a:solidFill>
                <a:latin typeface="Vazirmatn"/>
                <a:ea typeface="Vazirmatn"/>
                <a:cs typeface="Vazirmatn"/>
                <a:sym typeface="Vazirmatn"/>
              </a:rPr>
              <a:t>(Publishing)</a:t>
            </a:r>
            <a:endParaRPr>
              <a:latin typeface="Vazirmatn"/>
              <a:ea typeface="Vazirmatn"/>
              <a:cs typeface="Vazirmatn"/>
              <a:sym typeface="Vazirmatn"/>
            </a:endParaRPr>
          </a:p>
        </p:txBody>
      </p:sp>
      <p:sp>
        <p:nvSpPr>
          <p:cNvPr id="169" name="Google Shape;169;p19"/>
          <p:cNvSpPr txBox="1"/>
          <p:nvPr/>
        </p:nvSpPr>
        <p:spPr>
          <a:xfrm>
            <a:off x="740595" y="1099550"/>
            <a:ext cx="10698600" cy="3078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i="0" lang="en-US" sz="1400" u="none" cap="none" strike="noStrike">
                <a:solidFill>
                  <a:srgbClr val="64748B"/>
                </a:solidFill>
                <a:latin typeface="Vazirmatn"/>
                <a:ea typeface="Vazirmatn"/>
                <a:cs typeface="Vazirmatn"/>
                <a:sym typeface="Vazirmatn"/>
              </a:rPr>
              <a:t>تفکیک وظایف سازمان‌ها، معماری مبتنی بر پیشنهاد و میز کار مقایسه تفاوت (Diff Cards)</a:t>
            </a:r>
            <a:endParaRPr>
              <a:latin typeface="Vazirmatn"/>
              <a:ea typeface="Vazirmatn"/>
              <a:cs typeface="Vazirmatn"/>
              <a:sym typeface="Vazirmatn"/>
            </a:endParaRPr>
          </a:p>
        </p:txBody>
      </p:sp>
      <p:sp>
        <p:nvSpPr>
          <p:cNvPr id="170" name="Google Shape;170;p19"/>
          <p:cNvSpPr/>
          <p:nvPr/>
        </p:nvSpPr>
        <p:spPr>
          <a:xfrm>
            <a:off x="731520"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2D3546"/>
                </a:solidFill>
                <a:latin typeface="Vazirmatn"/>
                <a:ea typeface="Vazirmatn"/>
                <a:cs typeface="Vazirmatn"/>
                <a:sym typeface="Vazirmatn"/>
              </a:rPr>
              <a:t>سازمان‌های نشر (Multi-Tenant)</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فضای کاری کاملاً ایزوله و تفکیک‌شده برای هر سازمان انتشاراتی</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ماتریس سطوح دسترسی اعضا (مالک Owner، سردبیر Editor، عضو Member)</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مدیریت کاتالوگ و رصد آمار فروش و توزیع نسخه‌های هر ناشر</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فرم استاندارد آپلود فایل‌های دیجیتال و تعریف عوامل و نویسندگان کتاب</a:t>
            </a:r>
            <a:endParaRPr>
              <a:latin typeface="Vazirmatn"/>
              <a:ea typeface="Vazirmatn"/>
              <a:cs typeface="Vazirmatn"/>
              <a:sym typeface="Vazirmatn"/>
            </a:endParaRPr>
          </a:p>
        </p:txBody>
      </p:sp>
      <p:sp>
        <p:nvSpPr>
          <p:cNvPr id="171" name="Google Shape;171;p19"/>
          <p:cNvSpPr/>
          <p:nvPr/>
        </p:nvSpPr>
        <p:spPr>
          <a:xfrm>
            <a:off x="4425696"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CA7900"/>
                </a:solidFill>
                <a:latin typeface="Vazirmatn"/>
                <a:ea typeface="Vazirmatn"/>
                <a:cs typeface="Vazirmatn"/>
                <a:sym typeface="Vazirmatn"/>
              </a:rPr>
              <a:t>گردش‌کار پروپوزال (Proposal-Driven)</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عدم امکان دسترسی مستقیم ناشر به داده‌های لایو پایگاه داده کاتالوگ</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ثبت تمامی تغییرات (افزودن کتاب، تغییر قیمت، ویرایش مشخصات) در قالب پروپوزال رسمی</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حفظ یکپارچگی داده و پیشگیری از خرابکاری یا تغییرات ناگهانی قیمت</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وضعیت‌های استاندارد ممیزی: در انتظار (PENDING)، تاییدشده (APPROVED) و ردشده (REJECTED)</a:t>
            </a:r>
            <a:endParaRPr>
              <a:latin typeface="Vazirmatn"/>
              <a:ea typeface="Vazirmatn"/>
              <a:cs typeface="Vazirmatn"/>
              <a:sym typeface="Vazirmatn"/>
            </a:endParaRPr>
          </a:p>
        </p:txBody>
      </p:sp>
      <p:sp>
        <p:nvSpPr>
          <p:cNvPr id="172" name="Google Shape;172;p19"/>
          <p:cNvSpPr/>
          <p:nvPr/>
        </p:nvSpPr>
        <p:spPr>
          <a:xfrm>
            <a:off x="8119872"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2563EB"/>
                </a:solidFill>
                <a:latin typeface="Vazirmatn"/>
                <a:ea typeface="Vazirmatn"/>
                <a:cs typeface="Vazirmatn"/>
                <a:sym typeface="Vazirmatn"/>
              </a:rPr>
              <a:t>میز کار ممیزی در جنگو ادمین</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رابط کاربری سفارشی Side-by-Side Diff Cards برای ارزیابی سریع و دقیق تغییرات</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مقایسه ستون به ستون داده‌های زنده فعلی در برابر مقادیر پیشنهادی ناشر</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نشانگرهای رنگی تغییرات (Delta Chips) و پیش‌نمایش تصویر جلد</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فرآیند تایید یا رد اتمیک (Atomic Approve/Reject) همراه با ثبت الزامی دلیل ناظر</a:t>
            </a:r>
            <a:endParaRPr>
              <a:latin typeface="Vazirmatn"/>
              <a:ea typeface="Vazirmatn"/>
              <a:cs typeface="Vazirmatn"/>
              <a:sym typeface="Vazirmat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p:nvPr/>
        </p:nvSpPr>
        <p:spPr>
          <a:xfrm>
            <a:off x="0" y="0"/>
            <a:ext cx="12191695" cy="6858000"/>
          </a:xfrm>
          <a:prstGeom prst="rect">
            <a:avLst/>
          </a:prstGeom>
          <a:solidFill>
            <a:srgbClr val="F8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20"/>
          <p:cNvSpPr/>
          <p:nvPr/>
        </p:nvSpPr>
        <p:spPr>
          <a:xfrm>
            <a:off x="731520" y="365760"/>
            <a:ext cx="3291840" cy="32004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1100" u="none" cap="none" strike="noStrike">
                <a:solidFill>
                  <a:srgbClr val="CA7900"/>
                </a:solidFill>
                <a:latin typeface="Vazirmatn"/>
                <a:ea typeface="Vazirmatn"/>
                <a:cs typeface="Vazirmatn"/>
                <a:sym typeface="Vazirmatn"/>
              </a:rPr>
              <a:t>زیرساخت پیشرفته</a:t>
            </a:r>
            <a:endParaRPr>
              <a:latin typeface="Vazirmatn"/>
              <a:ea typeface="Vazirmatn"/>
              <a:cs typeface="Vazirmatn"/>
              <a:sym typeface="Vazirmatn"/>
            </a:endParaRPr>
          </a:p>
        </p:txBody>
      </p:sp>
      <p:sp>
        <p:nvSpPr>
          <p:cNvPr id="180" name="Google Shape;180;p20"/>
          <p:cNvSpPr txBox="1"/>
          <p:nvPr/>
        </p:nvSpPr>
        <p:spPr>
          <a:xfrm>
            <a:off x="731470" y="273715"/>
            <a:ext cx="10698600" cy="8619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b="1" i="0" lang="en-US" sz="2500" u="none" cap="none" strike="noStrike">
                <a:solidFill>
                  <a:srgbClr val="1E293B"/>
                </a:solidFill>
                <a:latin typeface="Vazirmatn"/>
                <a:ea typeface="Vazirmatn"/>
                <a:cs typeface="Vazirmatn"/>
                <a:sym typeface="Vazirmatn"/>
              </a:rPr>
              <a:t>هوشمندی، کارایی بالا و معماری امنیتی</a:t>
            </a:r>
            <a:endParaRPr b="1" sz="2500">
              <a:solidFill>
                <a:srgbClr val="1E293B"/>
              </a:solidFill>
              <a:latin typeface="Vazirmatn"/>
              <a:ea typeface="Vazirmatn"/>
              <a:cs typeface="Vazirmatn"/>
              <a:sym typeface="Vazirmatn"/>
            </a:endParaRPr>
          </a:p>
          <a:p>
            <a:pPr indent="0" lvl="0" marL="0" marR="0" rtl="1" algn="r">
              <a:spcBef>
                <a:spcPts val="0"/>
              </a:spcBef>
              <a:spcAft>
                <a:spcPts val="0"/>
              </a:spcAft>
              <a:buNone/>
            </a:pPr>
            <a:r>
              <a:rPr b="1" i="0" lang="en-US" sz="2500" u="none" cap="none" strike="noStrike">
                <a:solidFill>
                  <a:srgbClr val="1E293B"/>
                </a:solidFill>
                <a:latin typeface="Vazirmatn"/>
                <a:ea typeface="Vazirmatn"/>
                <a:cs typeface="Vazirmatn"/>
                <a:sym typeface="Vazirmatn"/>
              </a:rPr>
              <a:t>(Intelligence &amp; Security)</a:t>
            </a:r>
            <a:endParaRPr>
              <a:latin typeface="Vazirmatn"/>
              <a:ea typeface="Vazirmatn"/>
              <a:cs typeface="Vazirmatn"/>
              <a:sym typeface="Vazirmatn"/>
            </a:endParaRPr>
          </a:p>
        </p:txBody>
      </p:sp>
      <p:sp>
        <p:nvSpPr>
          <p:cNvPr id="181" name="Google Shape;181;p20"/>
          <p:cNvSpPr txBox="1"/>
          <p:nvPr/>
        </p:nvSpPr>
        <p:spPr>
          <a:xfrm>
            <a:off x="731470" y="1135625"/>
            <a:ext cx="10698600" cy="3078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i="0" lang="en-US" sz="1400" u="none" cap="none" strike="noStrike">
                <a:solidFill>
                  <a:srgbClr val="64748B"/>
                </a:solidFill>
                <a:latin typeface="Vazirmatn"/>
                <a:ea typeface="Vazirmatn"/>
                <a:cs typeface="Vazirmatn"/>
                <a:sym typeface="Vazirmatn"/>
              </a:rPr>
              <a:t>راهکارهای مهندسی برای سرعت بالا، مقیاس‌پذیری و امنیت داده‌ها</a:t>
            </a:r>
            <a:endParaRPr>
              <a:latin typeface="Vazirmatn"/>
              <a:ea typeface="Vazirmatn"/>
              <a:cs typeface="Vazirmatn"/>
              <a:sym typeface="Vazirmatn"/>
            </a:endParaRPr>
          </a:p>
        </p:txBody>
      </p:sp>
      <p:sp>
        <p:nvSpPr>
          <p:cNvPr id="182" name="Google Shape;182;p20"/>
          <p:cNvSpPr/>
          <p:nvPr/>
        </p:nvSpPr>
        <p:spPr>
          <a:xfrm>
            <a:off x="731520"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2563EB"/>
                </a:solidFill>
                <a:latin typeface="Vazirmatn"/>
                <a:ea typeface="Vazirmatn"/>
                <a:cs typeface="Vazirmatn"/>
                <a:sym typeface="Vazirmatn"/>
              </a:rPr>
              <a:t>موتور پیشنهاد محتوا محور (TF-IDF)</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الگوریتم شباهت کسینوسی بر مبنای بردار ویژگی TF-IDF چکیده، نویسنده و ژانرها</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محاسبه سنگین ماتریس شباهت به صورت تسک دوره‌ای Celery در پس‌زمینه</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کش نتایج شباهت در پایگاه داده جهت پاسخ‌دهی سریع در کمتر از ۲۰ میلی‌ثانیه</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فید هوشمند و شخصی‌سازی شده «پیشنهاد برای شما» (For You)</a:t>
            </a:r>
            <a:endParaRPr>
              <a:latin typeface="Vazirmatn"/>
              <a:ea typeface="Vazirmatn"/>
              <a:cs typeface="Vazirmatn"/>
              <a:sym typeface="Vazirmatn"/>
            </a:endParaRPr>
          </a:p>
        </p:txBody>
      </p:sp>
      <p:sp>
        <p:nvSpPr>
          <p:cNvPr id="183" name="Google Shape;183;p20"/>
          <p:cNvSpPr/>
          <p:nvPr/>
        </p:nvSpPr>
        <p:spPr>
          <a:xfrm>
            <a:off x="4425696"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CA7900"/>
                </a:solidFill>
                <a:latin typeface="Vazirmatn"/>
                <a:ea typeface="Vazirmatn"/>
                <a:cs typeface="Vazirmatn"/>
                <a:sym typeface="Vazirmatn"/>
              </a:rPr>
              <a:t>ورود امن بدون گذرواژه (OTP)</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ورود بدون پسورد با کد اعتبارسنجی ۶ رقمی ایمیلی با انقضای ۵ دقیقه</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محدودکننده نرخ درخواست (Rate Limiting) برای جلوگیری از حملات Brute-Force</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معماری توکن دوگانه JWT با رفرش خودکار و بی‌وقفه از طریق Axios Interceptor Queue</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بلک‌لیست توکن در خروج کاربر</a:t>
            </a:r>
            <a:endParaRPr>
              <a:latin typeface="Vazirmatn"/>
              <a:ea typeface="Vazirmatn"/>
              <a:cs typeface="Vazirmatn"/>
              <a:sym typeface="Vazirmatn"/>
            </a:endParaRPr>
          </a:p>
        </p:txBody>
      </p:sp>
      <p:sp>
        <p:nvSpPr>
          <p:cNvPr id="184" name="Google Shape;184;p20"/>
          <p:cNvSpPr/>
          <p:nvPr/>
        </p:nvSpPr>
        <p:spPr>
          <a:xfrm>
            <a:off x="8119872" y="1645920"/>
            <a:ext cx="3328416"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t" bIns="228600" lIns="274300" spcFirstLastPara="1" rIns="274300" wrap="square" tIns="228600">
            <a:noAutofit/>
          </a:bodyPr>
          <a:lstStyle/>
          <a:p>
            <a:pPr indent="0" lvl="0" marL="0" marR="0" rtl="1" algn="r">
              <a:spcBef>
                <a:spcPts val="0"/>
              </a:spcBef>
              <a:spcAft>
                <a:spcPts val="0"/>
              </a:spcAft>
              <a:buNone/>
            </a:pPr>
            <a:r>
              <a:rPr b="1" i="0" lang="en-US" sz="1600" u="none" cap="none" strike="noStrike">
                <a:solidFill>
                  <a:srgbClr val="059669"/>
                </a:solidFill>
                <a:latin typeface="Vazirmatn"/>
                <a:ea typeface="Vazirmatn"/>
                <a:cs typeface="Vazirmatn"/>
                <a:sym typeface="Vazirmatn"/>
              </a:rPr>
              <a:t>پرفورمنس و تست‌های اتوماسیون</a:t>
            </a:r>
            <a:endParaRPr>
              <a:latin typeface="Vazirmatn"/>
              <a:ea typeface="Vazirmatn"/>
              <a:cs typeface="Vazirmatn"/>
              <a:sym typeface="Vazirmatn"/>
            </a:endParaRPr>
          </a:p>
          <a:p>
            <a:pPr indent="0" lvl="0" marL="0" marR="0" rtl="1" algn="r">
              <a:lnSpc>
                <a:spcPct val="118000"/>
              </a:lnSpc>
              <a:spcBef>
                <a:spcPts val="1200"/>
              </a:spcBef>
              <a:spcAft>
                <a:spcPts val="0"/>
              </a:spcAft>
              <a:buNone/>
            </a:pPr>
            <a:r>
              <a:rPr i="0" lang="en-US" sz="1300" u="none" cap="none" strike="noStrike">
                <a:solidFill>
                  <a:srgbClr val="334155"/>
                </a:solidFill>
                <a:latin typeface="Vazirmatn"/>
                <a:ea typeface="Vazirmatn"/>
                <a:cs typeface="Vazirmatn"/>
                <a:sym typeface="Vazirmatn"/>
              </a:rPr>
              <a:t>• TanStack Query v5 با استراتژی هوشمند کش برای حذف لودینگ‌های تکراری</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پوشش تست‌های واحد و یکپارچه در ماژول‌های حساب‌ها، قیمت‌گذاری، کیف‌پول و لایسنس‌ها</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اعتبارسنجی خودکار ساختار داده، کد پستی ۱۰ رقمی و مدیریت خطای دوزبانه</a:t>
            </a:r>
            <a:endParaRPr>
              <a:latin typeface="Vazirmatn"/>
              <a:ea typeface="Vazirmatn"/>
              <a:cs typeface="Vazirmatn"/>
              <a:sym typeface="Vazirmatn"/>
            </a:endParaRPr>
          </a:p>
          <a:p>
            <a:pPr indent="0" lvl="0" marL="0" marR="0" rtl="1" algn="r">
              <a:lnSpc>
                <a:spcPct val="118000"/>
              </a:lnSpc>
              <a:spcBef>
                <a:spcPts val="1000"/>
              </a:spcBef>
              <a:spcAft>
                <a:spcPts val="0"/>
              </a:spcAft>
              <a:buNone/>
            </a:pPr>
            <a:r>
              <a:rPr i="0" lang="en-US" sz="1300" u="none" cap="none" strike="noStrike">
                <a:solidFill>
                  <a:srgbClr val="334155"/>
                </a:solidFill>
                <a:latin typeface="Vazirmatn"/>
                <a:ea typeface="Vazirmatn"/>
                <a:cs typeface="Vazirmatn"/>
                <a:sym typeface="Vazirmatn"/>
              </a:rPr>
              <a:t>• کدنویسی تمیز با مستندات تفصیلی API Contract</a:t>
            </a:r>
            <a:endParaRPr>
              <a:latin typeface="Vazirmatn"/>
              <a:ea typeface="Vazirmatn"/>
              <a:cs typeface="Vazirmatn"/>
              <a:sym typeface="Vazirmat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1"/>
          <p:cNvSpPr/>
          <p:nvPr/>
        </p:nvSpPr>
        <p:spPr>
          <a:xfrm>
            <a:off x="0" y="0"/>
            <a:ext cx="12191700" cy="6858000"/>
          </a:xfrm>
          <a:prstGeom prst="rect">
            <a:avLst/>
          </a:prstGeom>
          <a:solidFill>
            <a:srgbClr val="F8FA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21"/>
          <p:cNvSpPr/>
          <p:nvPr/>
        </p:nvSpPr>
        <p:spPr>
          <a:xfrm>
            <a:off x="731520" y="365760"/>
            <a:ext cx="3291840" cy="320040"/>
          </a:xfrm>
          <a:prstGeom prst="roundRect">
            <a:avLst>
              <a:gd fmla="val 16667" name="adj"/>
            </a:avLst>
          </a:prstGeom>
          <a:solidFill>
            <a:srgbClr val="F1F5F9"/>
          </a:solidFill>
          <a:ln cap="flat" cmpd="sng" w="12700">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1" algn="ctr">
              <a:spcBef>
                <a:spcPts val="0"/>
              </a:spcBef>
              <a:spcAft>
                <a:spcPts val="0"/>
              </a:spcAft>
              <a:buNone/>
            </a:pPr>
            <a:r>
              <a:rPr b="1" i="0" lang="en-US" sz="1100" u="none" cap="none" strike="noStrike">
                <a:solidFill>
                  <a:srgbClr val="CA7900"/>
                </a:solidFill>
                <a:latin typeface="Vazirmatn"/>
                <a:ea typeface="Vazirmatn"/>
                <a:cs typeface="Vazirmatn"/>
                <a:sym typeface="Vazirmatn"/>
              </a:rPr>
              <a:t>پایان ارائه</a:t>
            </a:r>
            <a:endParaRPr>
              <a:latin typeface="Vazirmatn"/>
              <a:ea typeface="Vazirmatn"/>
              <a:cs typeface="Vazirmatn"/>
              <a:sym typeface="Vazirmatn"/>
            </a:endParaRPr>
          </a:p>
        </p:txBody>
      </p:sp>
      <p:sp>
        <p:nvSpPr>
          <p:cNvPr id="192" name="Google Shape;192;p21"/>
          <p:cNvSpPr txBox="1"/>
          <p:nvPr/>
        </p:nvSpPr>
        <p:spPr>
          <a:xfrm>
            <a:off x="731457" y="276865"/>
            <a:ext cx="10698600" cy="8619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b="1" i="0" lang="en-US" sz="2500" u="none" cap="none" strike="noStrike">
                <a:solidFill>
                  <a:srgbClr val="1E293B"/>
                </a:solidFill>
                <a:latin typeface="Vazirmatn"/>
                <a:ea typeface="Vazirmatn"/>
                <a:cs typeface="Vazirmatn"/>
                <a:sym typeface="Vazirmatn"/>
              </a:rPr>
              <a:t>جمع‌بندی، نقشه راه توسعه و پرسش و پاسخ</a:t>
            </a:r>
            <a:endParaRPr b="1" sz="2500">
              <a:solidFill>
                <a:srgbClr val="1E293B"/>
              </a:solidFill>
              <a:latin typeface="Vazirmatn"/>
              <a:ea typeface="Vazirmatn"/>
              <a:cs typeface="Vazirmatn"/>
              <a:sym typeface="Vazirmatn"/>
            </a:endParaRPr>
          </a:p>
          <a:p>
            <a:pPr indent="0" lvl="0" marL="0" marR="0" rtl="1" algn="r">
              <a:spcBef>
                <a:spcPts val="0"/>
              </a:spcBef>
              <a:spcAft>
                <a:spcPts val="0"/>
              </a:spcAft>
              <a:buNone/>
            </a:pPr>
            <a:r>
              <a:rPr b="1" i="0" lang="en-US" sz="2500" u="none" cap="none" strike="noStrike">
                <a:solidFill>
                  <a:srgbClr val="1E293B"/>
                </a:solidFill>
                <a:latin typeface="Vazirmatn"/>
                <a:ea typeface="Vazirmatn"/>
                <a:cs typeface="Vazirmatn"/>
                <a:sym typeface="Vazirmatn"/>
              </a:rPr>
              <a:t>(Conclusion &amp; Q&amp;A)</a:t>
            </a:r>
            <a:endParaRPr>
              <a:latin typeface="Vazirmatn"/>
              <a:ea typeface="Vazirmatn"/>
              <a:cs typeface="Vazirmatn"/>
              <a:sym typeface="Vazirmatn"/>
            </a:endParaRPr>
          </a:p>
        </p:txBody>
      </p:sp>
      <p:sp>
        <p:nvSpPr>
          <p:cNvPr id="193" name="Google Shape;193;p21"/>
          <p:cNvSpPr txBox="1"/>
          <p:nvPr/>
        </p:nvSpPr>
        <p:spPr>
          <a:xfrm>
            <a:off x="746545" y="1138763"/>
            <a:ext cx="10698600" cy="3078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i="0" lang="en-US" sz="1400" u="none" cap="none" strike="noStrike">
                <a:solidFill>
                  <a:srgbClr val="64748B"/>
                </a:solidFill>
                <a:latin typeface="Vazirmatn"/>
                <a:ea typeface="Vazirmatn"/>
                <a:cs typeface="Vazirmatn"/>
                <a:sym typeface="Vazirmatn"/>
              </a:rPr>
              <a:t>ارزیابی دستاوردهای پیاده‌سازی و چشم‌انداز فازهای آینده سامانه</a:t>
            </a:r>
            <a:endParaRPr>
              <a:latin typeface="Vazirmatn"/>
              <a:ea typeface="Vazirmatn"/>
              <a:cs typeface="Vazirmatn"/>
              <a:sym typeface="Vazirmatn"/>
            </a:endParaRPr>
          </a:p>
        </p:txBody>
      </p:sp>
      <p:sp>
        <p:nvSpPr>
          <p:cNvPr id="194" name="Google Shape;194;p21"/>
          <p:cNvSpPr/>
          <p:nvPr/>
        </p:nvSpPr>
        <p:spPr>
          <a:xfrm>
            <a:off x="731520" y="1645920"/>
            <a:ext cx="5486400" cy="4663440"/>
          </a:xfrm>
          <a:prstGeom prst="roundRect">
            <a:avLst>
              <a:gd fmla="val 16667"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274300" spcFirstLastPara="1" rIns="274300" wrap="square" tIns="228600">
            <a:noAutofit/>
          </a:bodyPr>
          <a:lstStyle/>
          <a:p>
            <a:pPr indent="0" lvl="0" marL="0" marR="0" rtl="1" algn="r">
              <a:spcBef>
                <a:spcPts val="0"/>
              </a:spcBef>
              <a:spcAft>
                <a:spcPts val="0"/>
              </a:spcAft>
              <a:buNone/>
            </a:pPr>
            <a:r>
              <a:rPr b="1" i="0" lang="en-US" sz="1650" u="none" cap="none" strike="noStrike">
                <a:solidFill>
                  <a:srgbClr val="CA7900"/>
                </a:solidFill>
                <a:latin typeface="Vazirmatn"/>
                <a:ea typeface="Vazirmatn"/>
                <a:cs typeface="Vazirmatn"/>
                <a:sym typeface="Vazirmatn"/>
              </a:rPr>
              <a:t>دستاوردهای کلیدی پروژه</a:t>
            </a:r>
            <a:endParaRPr>
              <a:latin typeface="Vazirmatn"/>
              <a:ea typeface="Vazirmatn"/>
              <a:cs typeface="Vazirmatn"/>
              <a:sym typeface="Vazirmatn"/>
            </a:endParaRPr>
          </a:p>
          <a:p>
            <a:pPr indent="0" lvl="0" marL="0" marR="0" rtl="1" algn="r">
              <a:spcBef>
                <a:spcPts val="1000"/>
              </a:spcBef>
              <a:spcAft>
                <a:spcPts val="0"/>
              </a:spcAft>
              <a:buNone/>
            </a:pPr>
            <a:r>
              <a:rPr i="0" lang="en-US" sz="1300" u="none" cap="none" strike="noStrike">
                <a:solidFill>
                  <a:srgbClr val="334155"/>
                </a:solidFill>
                <a:latin typeface="Vazirmatn"/>
                <a:ea typeface="Vazirmatn"/>
                <a:cs typeface="Vazirmatn"/>
                <a:sym typeface="Vazirmatn"/>
              </a:rPr>
              <a:t>✓ پیاده‌سازی موفق معماری فول‌استک سازمانی با تفکیک کامل دامنه‌ها</a:t>
            </a:r>
            <a:endParaRPr>
              <a:latin typeface="Vazirmatn"/>
              <a:ea typeface="Vazirmatn"/>
              <a:cs typeface="Vazirmatn"/>
              <a:sym typeface="Vazirmatn"/>
            </a:endParaRPr>
          </a:p>
          <a:p>
            <a:pPr indent="0" lvl="0" marL="0" marR="0" rtl="1" algn="r">
              <a:spcBef>
                <a:spcPts val="800"/>
              </a:spcBef>
              <a:spcAft>
                <a:spcPts val="0"/>
              </a:spcAft>
              <a:buNone/>
            </a:pPr>
            <a:r>
              <a:rPr i="0" lang="en-US" sz="1300" u="none" cap="none" strike="noStrike">
                <a:solidFill>
                  <a:srgbClr val="334155"/>
                </a:solidFill>
                <a:latin typeface="Vazirmatn"/>
                <a:ea typeface="Vazirmatn"/>
                <a:cs typeface="Vazirmatn"/>
                <a:sym typeface="Vazirmatn"/>
              </a:rPr>
              <a:t>✓ پوشش کامل سناریوهای فاز ۱، ۲ و ۳ (موتور قیمت‌گذاری، کیف‌پول، پرتال ناشران)</a:t>
            </a:r>
            <a:endParaRPr>
              <a:latin typeface="Vazirmatn"/>
              <a:ea typeface="Vazirmatn"/>
              <a:cs typeface="Vazirmatn"/>
              <a:sym typeface="Vazirmatn"/>
            </a:endParaRPr>
          </a:p>
          <a:p>
            <a:pPr indent="0" lvl="0" marL="0" marR="0" rtl="1" algn="r">
              <a:spcBef>
                <a:spcPts val="800"/>
              </a:spcBef>
              <a:spcAft>
                <a:spcPts val="0"/>
              </a:spcAft>
              <a:buNone/>
            </a:pPr>
            <a:r>
              <a:rPr i="0" lang="en-US" sz="1300" u="none" cap="none" strike="noStrike">
                <a:solidFill>
                  <a:srgbClr val="334155"/>
                </a:solidFill>
                <a:latin typeface="Vazirmatn"/>
                <a:ea typeface="Vazirmatn"/>
                <a:cs typeface="Vazirmatn"/>
                <a:sym typeface="Vazirmatn"/>
              </a:rPr>
              <a:t>✓ تجربه کاربری بی‌درنگ، دوزبانه بومی و مدیریت خطاهای سیستم</a:t>
            </a:r>
            <a:endParaRPr>
              <a:latin typeface="Vazirmatn"/>
              <a:ea typeface="Vazirmatn"/>
              <a:cs typeface="Vazirmatn"/>
              <a:sym typeface="Vazirmatn"/>
            </a:endParaRPr>
          </a:p>
          <a:p>
            <a:pPr indent="0" lvl="0" marL="0" marR="0" rtl="1" algn="r">
              <a:spcBef>
                <a:spcPts val="800"/>
              </a:spcBef>
              <a:spcAft>
                <a:spcPts val="0"/>
              </a:spcAft>
              <a:buNone/>
            </a:pPr>
            <a:r>
              <a:rPr i="0" lang="en-US" sz="1300" u="none" cap="none" strike="noStrike">
                <a:solidFill>
                  <a:srgbClr val="334155"/>
                </a:solidFill>
                <a:latin typeface="Vazirmatn"/>
                <a:ea typeface="Vazirmatn"/>
                <a:cs typeface="Vazirmatn"/>
                <a:sym typeface="Vazirmatn"/>
              </a:rPr>
              <a:t>✓ مستندسازی استاندارد در قالب API Contract و راهنمای تفصیلی معماری</a:t>
            </a:r>
            <a:endParaRPr>
              <a:latin typeface="Vazirmatn"/>
              <a:ea typeface="Vazirmatn"/>
              <a:cs typeface="Vazirmatn"/>
              <a:sym typeface="Vazirmatn"/>
            </a:endParaRPr>
          </a:p>
          <a:p>
            <a:pPr indent="0" lvl="0" marL="0" marR="0" rtl="1" algn="r">
              <a:spcBef>
                <a:spcPts val="800"/>
              </a:spcBef>
              <a:spcAft>
                <a:spcPts val="0"/>
              </a:spcAft>
              <a:buNone/>
            </a:pPr>
            <a:br>
              <a:rPr b="1" i="0" lang="en-US" sz="1600" u="none" cap="none" strike="noStrike">
                <a:solidFill>
                  <a:srgbClr val="2D3546"/>
                </a:solidFill>
                <a:latin typeface="Vazirmatn"/>
                <a:ea typeface="Vazirmatn"/>
                <a:cs typeface="Vazirmatn"/>
                <a:sym typeface="Vazirmatn"/>
              </a:rPr>
            </a:br>
            <a:r>
              <a:rPr b="1" i="0" lang="en-US" sz="1600" u="none" cap="none" strike="noStrike">
                <a:solidFill>
                  <a:srgbClr val="2D3546"/>
                </a:solidFill>
                <a:latin typeface="Vazirmatn"/>
                <a:ea typeface="Vazirmatn"/>
                <a:cs typeface="Vazirmatn"/>
                <a:sym typeface="Vazirmatn"/>
              </a:rPr>
              <a:t>چشم‌انداز و توسعه‌های آتی (Roadmap)</a:t>
            </a:r>
            <a:endParaRPr>
              <a:latin typeface="Vazirmatn"/>
              <a:ea typeface="Vazirmatn"/>
              <a:cs typeface="Vazirmatn"/>
              <a:sym typeface="Vazirmatn"/>
            </a:endParaRPr>
          </a:p>
          <a:p>
            <a:pPr indent="0" lvl="0" marL="0" marR="0" rtl="1" algn="r">
              <a:spcBef>
                <a:spcPts val="1000"/>
              </a:spcBef>
              <a:spcAft>
                <a:spcPts val="0"/>
              </a:spcAft>
              <a:buNone/>
            </a:pPr>
            <a:r>
              <a:rPr i="0" lang="en-US" sz="1300" u="none" cap="none" strike="noStrike">
                <a:solidFill>
                  <a:srgbClr val="64748B"/>
                </a:solidFill>
                <a:latin typeface="Vazirmatn"/>
                <a:ea typeface="Vazirmatn"/>
                <a:cs typeface="Vazirmatn"/>
                <a:sym typeface="Vazirmatn"/>
              </a:rPr>
              <a:t>→ راه‌اندازی باشگاه خوانندگان و شبکه اجتماعی متمرکز بر کتاب (Book Club)</a:t>
            </a:r>
            <a:endParaRPr>
              <a:latin typeface="Vazirmatn"/>
              <a:ea typeface="Vazirmatn"/>
              <a:cs typeface="Vazirmatn"/>
              <a:sym typeface="Vazirmatn"/>
            </a:endParaRPr>
          </a:p>
          <a:p>
            <a:pPr indent="0" lvl="0" marL="0" marR="0" rtl="1" algn="r">
              <a:spcBef>
                <a:spcPts val="800"/>
              </a:spcBef>
              <a:spcAft>
                <a:spcPts val="0"/>
              </a:spcAft>
              <a:buNone/>
            </a:pPr>
            <a:r>
              <a:rPr i="0" lang="en-US" sz="1300" u="none" cap="none" strike="noStrike">
                <a:solidFill>
                  <a:srgbClr val="64748B"/>
                </a:solidFill>
                <a:latin typeface="Vazirmatn"/>
                <a:ea typeface="Vazirmatn"/>
                <a:cs typeface="Vazirmatn"/>
                <a:sym typeface="Vazirmatn"/>
              </a:rPr>
              <a:t>→ اتصال به درگاه پرداخت رسمی شاپرک (زرین‌پال / سامان‌کیش)</a:t>
            </a:r>
            <a:endParaRPr>
              <a:latin typeface="Vazirmatn"/>
              <a:ea typeface="Vazirmatn"/>
              <a:cs typeface="Vazirmatn"/>
              <a:sym typeface="Vazirmatn"/>
            </a:endParaRPr>
          </a:p>
          <a:p>
            <a:pPr indent="0" lvl="0" marL="0" marR="0" rtl="1" algn="r">
              <a:spcBef>
                <a:spcPts val="800"/>
              </a:spcBef>
              <a:spcAft>
                <a:spcPts val="0"/>
              </a:spcAft>
              <a:buNone/>
            </a:pPr>
            <a:r>
              <a:rPr i="0" lang="en-US" sz="1300" u="none" cap="none" strike="noStrike">
                <a:solidFill>
                  <a:srgbClr val="64748B"/>
                </a:solidFill>
                <a:latin typeface="Vazirmatn"/>
                <a:ea typeface="Vazirmatn"/>
                <a:cs typeface="Vazirmatn"/>
                <a:sym typeface="Vazirmatn"/>
              </a:rPr>
              <a:t>→ ترکیب مدل Collaborative Filtering با الگوریتم توصیه‌گر فعلی</a:t>
            </a:r>
            <a:endParaRPr>
              <a:latin typeface="Vazirmatn"/>
              <a:ea typeface="Vazirmatn"/>
              <a:cs typeface="Vazirmatn"/>
              <a:sym typeface="Vazirmatn"/>
            </a:endParaRPr>
          </a:p>
        </p:txBody>
      </p:sp>
      <p:sp>
        <p:nvSpPr>
          <p:cNvPr id="195" name="Google Shape;195;p21"/>
          <p:cNvSpPr/>
          <p:nvPr/>
        </p:nvSpPr>
        <p:spPr>
          <a:xfrm>
            <a:off x="6583680" y="1645920"/>
            <a:ext cx="4876495" cy="4663440"/>
          </a:xfrm>
          <a:prstGeom prst="roundRect">
            <a:avLst>
              <a:gd fmla="val 16667" name="adj"/>
            </a:avLst>
          </a:prstGeom>
          <a:solidFill>
            <a:srgbClr val="FFFFFF"/>
          </a:solidFill>
          <a:ln cap="flat" cmpd="sng" w="25400">
            <a:solidFill>
              <a:srgbClr val="CA790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365750" spcFirstLastPara="1" rIns="365750" wrap="square" tIns="45700">
            <a:noAutofit/>
          </a:bodyPr>
          <a:lstStyle/>
          <a:p>
            <a:pPr indent="0" lvl="0" marL="0" marR="0" rtl="1" algn="ctr">
              <a:spcBef>
                <a:spcPts val="0"/>
              </a:spcBef>
              <a:spcAft>
                <a:spcPts val="0"/>
              </a:spcAft>
              <a:buNone/>
            </a:pPr>
            <a:r>
              <a:rPr b="1" i="0" lang="en-US" sz="1900" u="none" cap="none" strike="noStrike">
                <a:solidFill>
                  <a:srgbClr val="1E293B"/>
                </a:solidFill>
                <a:latin typeface="Vazirmatn"/>
                <a:ea typeface="Vazirmatn"/>
                <a:cs typeface="Vazirmatn"/>
                <a:sym typeface="Vazirmatn"/>
              </a:rPr>
              <a:t>با سپاس فراوان از وقت و توجه</a:t>
            </a:r>
            <a:endParaRPr>
              <a:latin typeface="Vazirmatn"/>
              <a:ea typeface="Vazirmatn"/>
              <a:cs typeface="Vazirmatn"/>
              <a:sym typeface="Vazirmatn"/>
            </a:endParaRPr>
          </a:p>
          <a:p>
            <a:pPr indent="0" lvl="0" marL="0" marR="0" rtl="1" algn="ctr">
              <a:spcBef>
                <a:spcPts val="800"/>
              </a:spcBef>
              <a:spcAft>
                <a:spcPts val="0"/>
              </a:spcAft>
              <a:buNone/>
            </a:pPr>
            <a:r>
              <a:rPr b="1" i="0" lang="en-US" sz="2400" u="none" cap="none" strike="noStrike">
                <a:solidFill>
                  <a:srgbClr val="CA7900"/>
                </a:solidFill>
                <a:latin typeface="Vazirmatn"/>
                <a:ea typeface="Vazirmatn"/>
                <a:cs typeface="Vazirmatn"/>
                <a:sym typeface="Vazirmatn"/>
              </a:rPr>
              <a:t>اساتید و داوران گرامی</a:t>
            </a:r>
            <a:endParaRPr>
              <a:latin typeface="Vazirmatn"/>
              <a:ea typeface="Vazirmatn"/>
              <a:cs typeface="Vazirmatn"/>
              <a:sym typeface="Vazirmatn"/>
            </a:endParaRPr>
          </a:p>
          <a:p>
            <a:pPr indent="0" lvl="0" marL="0" marR="0" rtl="1" algn="ctr">
              <a:spcBef>
                <a:spcPts val="2200"/>
              </a:spcBef>
              <a:spcAft>
                <a:spcPts val="0"/>
              </a:spcAft>
              <a:buNone/>
            </a:pPr>
            <a:r>
              <a:rPr b="1" i="0" lang="en-US" sz="1700" u="none" cap="none" strike="noStrike">
                <a:solidFill>
                  <a:srgbClr val="2D3546"/>
                </a:solidFill>
                <a:latin typeface="Vazirmatn"/>
                <a:ea typeface="Vazirmatn"/>
                <a:cs typeface="Vazirmatn"/>
                <a:sym typeface="Vazirmatn"/>
              </a:rPr>
              <a:t>💬 پرسش و پاسخ و دریافت نظرات</a:t>
            </a:r>
            <a:endParaRPr>
              <a:latin typeface="Vazirmatn"/>
              <a:ea typeface="Vazirmatn"/>
              <a:cs typeface="Vazirmatn"/>
              <a:sym typeface="Vazirmatn"/>
            </a:endParaRPr>
          </a:p>
          <a:p>
            <a:pPr indent="0" lvl="0" marL="0" marR="0" rtl="1" algn="ctr">
              <a:spcBef>
                <a:spcPts val="1000"/>
              </a:spcBef>
              <a:spcAft>
                <a:spcPts val="0"/>
              </a:spcAft>
              <a:buNone/>
            </a:pPr>
            <a:r>
              <a:rPr i="0" lang="en-US" sz="1350" u="none" cap="none" strike="noStrike">
                <a:solidFill>
                  <a:srgbClr val="64748B"/>
                </a:solidFill>
                <a:latin typeface="Vazirmatn"/>
                <a:ea typeface="Vazirmatn"/>
                <a:cs typeface="Vazirmatn"/>
                <a:sym typeface="Vazirmatn"/>
              </a:rPr>
              <a:t>مشتاقانه آماده پاسخگویی به سوالات و استفاده از راهنمایی‌های ارزشمند شما هستیم.</a:t>
            </a:r>
            <a:endParaRPr>
              <a:latin typeface="Vazirmatn"/>
              <a:ea typeface="Vazirmatn"/>
              <a:cs typeface="Vazirmatn"/>
              <a:sym typeface="Vazirmatn"/>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167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65760"/>
            <a:ext cx="347472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CA7900"/>
                </a:solidFill>
                <a:latin typeface="B Nazanin"/>
              </a:defRPr>
            </a:pPr>
            <a:r>
              <a:t>تخصصی فرانت‌اند: عملکرد کلاینت</a:t>
            </a:r>
          </a:p>
        </p:txBody>
      </p:sp>
      <p:sp>
        <p:nvSpPr>
          <p:cNvPr id="5" name="TextBox 4"/>
          <p:cNvSpPr txBox="1"/>
          <p:nvPr/>
        </p:nvSpPr>
        <p:spPr>
          <a:xfrm>
            <a:off x="731520" y="777240"/>
            <a:ext cx="10698480" cy="731520"/>
          </a:xfrm>
          <a:prstGeom prst="rect">
            <a:avLst/>
          </a:prstGeom>
          <a:noFill/>
        </p:spPr>
        <p:txBody>
          <a:bodyPr wrap="square">
            <a:spAutoFit/>
          </a:bodyPr>
          <a:lstStyle/>
          <a:p>
            <a:pPr algn="r">
              <a:defRPr sz="2400" b="1">
                <a:solidFill>
                  <a:srgbClr val="1E293B"/>
                </a:solidFill>
                <a:latin typeface="B Nazanin"/>
              </a:defRPr>
            </a:pPr>
            <a:r>
              <a:t>مدیریت حالت و کشینگ هوشمند کلاینت (TanStack React Query v5)</a:t>
            </a:r>
          </a:p>
        </p:txBody>
      </p:sp>
      <p:sp>
        <p:nvSpPr>
          <p:cNvPr id="6" name="TextBox 5"/>
          <p:cNvSpPr txBox="1"/>
          <p:nvPr/>
        </p:nvSpPr>
        <p:spPr>
          <a:xfrm>
            <a:off x="731520" y="1371600"/>
            <a:ext cx="10698480" cy="411480"/>
          </a:xfrm>
          <a:prstGeom prst="rect">
            <a:avLst/>
          </a:prstGeom>
          <a:noFill/>
        </p:spPr>
        <p:txBody>
          <a:bodyPr wrap="square">
            <a:spAutoFit/>
          </a:bodyPr>
          <a:lstStyle/>
          <a:p>
            <a:pPr algn="r">
              <a:defRPr sz="1400">
                <a:solidFill>
                  <a:srgbClr val="64748B"/>
                </a:solidFill>
                <a:latin typeface="B Nazanin"/>
              </a:defRPr>
            </a:pPr>
            <a:r>
              <a:t>معماری کشینگ، همگام‌سازی بلادرنگ داده‌ها و حذف کامل لودینگ‌های تکراری</a:t>
            </a:r>
          </a:p>
        </p:txBody>
      </p:sp>
      <p:sp>
        <p:nvSpPr>
          <p:cNvPr id="7" name="Rounded Rectangle 6"/>
          <p:cNvSpPr/>
          <p:nvPr/>
        </p:nvSpPr>
        <p:spPr>
          <a:xfrm>
            <a:off x="731520" y="164592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tIns="228600" bIns="228600" lIns="274320" rIns="274320"/>
          <a:lstStyle/>
          <a:p>
            <a:pPr algn="r">
              <a:spcAft>
                <a:spcPts val="1200"/>
              </a:spcAft>
              <a:defRPr sz="1600" b="1">
                <a:solidFill>
                  <a:srgbClr val="2563EB"/>
                </a:solidFill>
                <a:latin typeface="B Nazanin"/>
              </a:defRPr>
            </a:pPr>
            <a:r>
              <a:t>کارخانه کلیدهای کوئری (Key Factory)</a:t>
            </a:r>
          </a:p>
          <a:p>
            <a:pPr algn="r">
              <a:lnSpc>
                <a:spcPct val="118000"/>
              </a:lnSpc>
              <a:spcAft>
                <a:spcPts val="1000"/>
              </a:spcAft>
              <a:defRPr sz="1300">
                <a:solidFill>
                  <a:srgbClr val="334155"/>
                </a:solidFill>
                <a:latin typeface="B Nazanin"/>
              </a:defRPr>
            </a:pPr>
            <a:r>
              <a:t>• تعریف ساختاریافته و سلسله‌مراتبی کلیدهای کش (مانند bookKeys, cartKeys, walletKeys)</a:t>
            </a:r>
          </a:p>
          <a:p>
            <a:pPr algn="r">
              <a:lnSpc>
                <a:spcPct val="118000"/>
              </a:lnSpc>
              <a:spcAft>
                <a:spcPts val="1000"/>
              </a:spcAft>
              <a:defRPr sz="1300">
                <a:solidFill>
                  <a:srgbClr val="334155"/>
                </a:solidFill>
                <a:latin typeface="B Nazanin"/>
              </a:defRPr>
            </a:pPr>
            <a:r>
              <a:t>• ایزولاسیون کامل دامنه‌های داده و جلوگیری از تداخل ناخواسته کش در صفحات مختلف</a:t>
            </a:r>
          </a:p>
          <a:p>
            <a:pPr algn="r">
              <a:lnSpc>
                <a:spcPct val="118000"/>
              </a:lnSpc>
              <a:spcAft>
                <a:spcPts val="1000"/>
              </a:spcAft>
              <a:defRPr sz="1300">
                <a:solidFill>
                  <a:srgbClr val="334155"/>
                </a:solidFill>
                <a:latin typeface="B Nazanin"/>
              </a:defRPr>
            </a:pPr>
            <a:r>
              <a:t>• انعطاف در کوئری‌های پارامتریک (فیلترهای کاتالوگ، شماره صفحه و وضعیت لاگین)</a:t>
            </a:r>
          </a:p>
          <a:p>
            <a:pPr algn="r">
              <a:lnSpc>
                <a:spcPct val="118000"/>
              </a:lnSpc>
              <a:spcAft>
                <a:spcPts val="1000"/>
              </a:spcAft>
              <a:defRPr sz="1300">
                <a:solidFill>
                  <a:srgbClr val="334155"/>
                </a:solidFill>
                <a:latin typeface="B Nazanin"/>
              </a:defRPr>
            </a:pPr>
            <a:r>
              <a:t>• امکان ابطال هدفمند زیرشاخه‌های کش (Targeted Invalidation) تنها با ارسال پیشوند کلید</a:t>
            </a:r>
          </a:p>
        </p:txBody>
      </p:sp>
      <p:sp>
        <p:nvSpPr>
          <p:cNvPr id="8" name="Rounded Rectangle 7"/>
          <p:cNvSpPr/>
          <p:nvPr/>
        </p:nvSpPr>
        <p:spPr>
          <a:xfrm>
            <a:off x="4425696" y="164592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tIns="228600" bIns="228600" lIns="274320" rIns="274320"/>
          <a:lstStyle/>
          <a:p>
            <a:pPr algn="r">
              <a:spcAft>
                <a:spcPts val="1200"/>
              </a:spcAft>
              <a:defRPr sz="1600" b="1">
                <a:solidFill>
                  <a:srgbClr val="CA7900"/>
                </a:solidFill>
                <a:latin typeface="B Nazanin"/>
              </a:defRPr>
            </a:pPr>
            <a:r>
              <a:t>چرخه حیات کش و بازخوانی پس‌زمینه</a:t>
            </a:r>
          </a:p>
          <a:p>
            <a:pPr algn="r">
              <a:lnSpc>
                <a:spcPct val="118000"/>
              </a:lnSpc>
              <a:spcAft>
                <a:spcPts val="1000"/>
              </a:spcAft>
              <a:defRPr sz="1300">
                <a:solidFill>
                  <a:srgbClr val="334155"/>
                </a:solidFill>
                <a:latin typeface="B Nazanin"/>
              </a:defRPr>
            </a:pPr>
            <a:r>
              <a:t>• تفکیک هوشمند staleTime (زمان تازگی داده) و gcTime (مدت نگهداری در حافظه رم)</a:t>
            </a:r>
          </a:p>
          <a:p>
            <a:pPr algn="r">
              <a:lnSpc>
                <a:spcPct val="118000"/>
              </a:lnSpc>
              <a:spcAft>
                <a:spcPts val="1000"/>
              </a:spcAft>
              <a:defRPr sz="1300">
                <a:solidFill>
                  <a:srgbClr val="334155"/>
                </a:solidFill>
                <a:latin typeface="B Nazanin"/>
              </a:defRPr>
            </a:pPr>
            <a:r>
              <a:t>• استراتژی Stale-While-Revalidate: نمایش بلادرنگ داده کش و واکشی در پس‌زمینه</a:t>
            </a:r>
          </a:p>
          <a:p>
            <a:pPr algn="r">
              <a:lnSpc>
                <a:spcPct val="118000"/>
              </a:lnSpc>
              <a:spcAft>
                <a:spcPts val="1000"/>
              </a:spcAft>
              <a:defRPr sz="1300">
                <a:solidFill>
                  <a:srgbClr val="334155"/>
                </a:solidFill>
                <a:latin typeface="B Nazanin"/>
              </a:defRPr>
            </a:pPr>
            <a:r>
              <a:t>• واکشی مجدد خودکار با بازگشت کاربر به تب مرورگر (Window Focus Refetching)</a:t>
            </a:r>
          </a:p>
          <a:p>
            <a:pPr algn="r">
              <a:lnSpc>
                <a:spcPct val="118000"/>
              </a:lnSpc>
              <a:spcAft>
                <a:spcPts val="1000"/>
              </a:spcAft>
              <a:defRPr sz="1300">
                <a:solidFill>
                  <a:srgbClr val="334155"/>
                </a:solidFill>
                <a:latin typeface="B Nazanin"/>
              </a:defRPr>
            </a:pPr>
            <a:r>
              <a:t>• حذف قطعی پرش‌های لودینگ (Zero-Flicker UX) و کاهش محسوس مصرف پهنای باند</a:t>
            </a:r>
          </a:p>
        </p:txBody>
      </p:sp>
      <p:sp>
        <p:nvSpPr>
          <p:cNvPr id="9" name="Rounded Rectangle 8"/>
          <p:cNvSpPr/>
          <p:nvPr/>
        </p:nvSpPr>
        <p:spPr>
          <a:xfrm>
            <a:off x="8119872" y="164592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tIns="228600" bIns="228600" lIns="274320" rIns="274320"/>
          <a:lstStyle/>
          <a:p>
            <a:pPr algn="r">
              <a:spcAft>
                <a:spcPts val="1200"/>
              </a:spcAft>
              <a:defRPr sz="1600" b="1">
                <a:solidFill>
                  <a:srgbClr val="059669"/>
                </a:solidFill>
                <a:latin typeface="B Nazanin"/>
              </a:defRPr>
            </a:pPr>
            <a:r>
              <a:t>همگام‌سازی لحظه‌ای و رهگیری سشن</a:t>
            </a:r>
          </a:p>
          <a:p>
            <a:pPr algn="r">
              <a:lnSpc>
                <a:spcPct val="118000"/>
              </a:lnSpc>
              <a:spcAft>
                <a:spcPts val="1000"/>
              </a:spcAft>
              <a:defRPr sz="1300">
                <a:solidFill>
                  <a:srgbClr val="334155"/>
                </a:solidFill>
                <a:latin typeface="B Nazanin"/>
              </a:defRPr>
            </a:pPr>
            <a:r>
              <a:t>• ابطال خودکار کش بلافاصله پس از میوتیشن‌ها (افزودن به سبد، شارژ کیف‌پول، تخفیف)</a:t>
            </a:r>
          </a:p>
          <a:p>
            <a:pPr algn="r">
              <a:lnSpc>
                <a:spcPct val="118000"/>
              </a:lnSpc>
              <a:spcAft>
                <a:spcPts val="1000"/>
              </a:spcAft>
              <a:defRPr sz="1300">
                <a:solidFill>
                  <a:srgbClr val="334155"/>
                </a:solidFill>
                <a:latin typeface="B Nazanin"/>
              </a:defRPr>
            </a:pPr>
            <a:r>
              <a:t>• بروزرسانی بلادرنگ نشانگر سبد و موجودی کیف‌پول در هدر و مودال‌ها بدون رفرش صفحه</a:t>
            </a:r>
          </a:p>
          <a:p>
            <a:pPr algn="r">
              <a:lnSpc>
                <a:spcPct val="118000"/>
              </a:lnSpc>
              <a:spcAft>
                <a:spcPts val="1000"/>
              </a:spcAft>
              <a:defRPr sz="1300">
                <a:solidFill>
                  <a:srgbClr val="334155"/>
                </a:solidFill>
                <a:latin typeface="B Nazanin"/>
              </a:defRPr>
            </a:pPr>
            <a:r>
              <a:t>• مدیریت صف رهگیری احراز هویت (Axios Interceptor Queue) هنگام اکسپایر شدن JWT</a:t>
            </a:r>
          </a:p>
          <a:p>
            <a:pPr algn="r">
              <a:lnSpc>
                <a:spcPct val="118000"/>
              </a:lnSpc>
              <a:spcAft>
                <a:spcPts val="1000"/>
              </a:spcAft>
              <a:defRPr sz="1300">
                <a:solidFill>
                  <a:srgbClr val="334155"/>
                </a:solidFill>
                <a:latin typeface="B Nazanin"/>
              </a:defRPr>
            </a:pPr>
            <a:r>
              <a:t>• تمدید خودکار توکن در پس‌زمینه و اجرای مجدد شفاف درخواست‌ها بدون وقفه برای کاربر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167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65760"/>
            <a:ext cx="347472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CA7900"/>
                </a:solidFill>
                <a:latin typeface="B Nazanin"/>
              </a:defRPr>
            </a:pPr>
            <a:r>
              <a:t>تخصصی بک‌اند: منطق تجاری</a:t>
            </a:r>
          </a:p>
        </p:txBody>
      </p:sp>
      <p:sp>
        <p:nvSpPr>
          <p:cNvPr id="5" name="TextBox 4"/>
          <p:cNvSpPr txBox="1"/>
          <p:nvPr/>
        </p:nvSpPr>
        <p:spPr>
          <a:xfrm>
            <a:off x="731520" y="777240"/>
            <a:ext cx="10698480" cy="731520"/>
          </a:xfrm>
          <a:prstGeom prst="rect">
            <a:avLst/>
          </a:prstGeom>
          <a:noFill/>
        </p:spPr>
        <p:txBody>
          <a:bodyPr wrap="square">
            <a:spAutoFit/>
          </a:bodyPr>
          <a:lstStyle/>
          <a:p>
            <a:pPr algn="r">
              <a:defRPr sz="2400" b="1">
                <a:solidFill>
                  <a:srgbClr val="1E293B"/>
                </a:solidFill>
                <a:latin typeface="B Nazanin"/>
              </a:defRPr>
            </a:pPr>
            <a:r>
              <a:t>خط‌لوله متمرکز محاسبات قیمت و ممیزی تاریخی (Pricing Engine)</a:t>
            </a:r>
          </a:p>
        </p:txBody>
      </p:sp>
      <p:sp>
        <p:nvSpPr>
          <p:cNvPr id="6" name="TextBox 5"/>
          <p:cNvSpPr txBox="1"/>
          <p:nvPr/>
        </p:nvSpPr>
        <p:spPr>
          <a:xfrm>
            <a:off x="731520" y="1371600"/>
            <a:ext cx="10698480" cy="411480"/>
          </a:xfrm>
          <a:prstGeom prst="rect">
            <a:avLst/>
          </a:prstGeom>
          <a:noFill/>
        </p:spPr>
        <p:txBody>
          <a:bodyPr wrap="square">
            <a:spAutoFit/>
          </a:bodyPr>
          <a:lstStyle/>
          <a:p>
            <a:pPr algn="r">
              <a:defRPr sz="1400">
                <a:solidFill>
                  <a:srgbClr val="64748B"/>
                </a:solidFill>
                <a:latin typeface="B Nazanin"/>
              </a:defRPr>
            </a:pPr>
            <a:r>
              <a:t>پایپ‌لاین محاسباتی چندمرحله‌ای، اعتبارسنجی تخفیف‌های همپوشان و ثبت تغییرناپذیر</a:t>
            </a:r>
          </a:p>
        </p:txBody>
      </p:sp>
      <p:sp>
        <p:nvSpPr>
          <p:cNvPr id="7" name="Rounded Rectangle 6"/>
          <p:cNvSpPr/>
          <p:nvPr/>
        </p:nvSpPr>
        <p:spPr>
          <a:xfrm>
            <a:off x="731520" y="164592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tIns="228600" bIns="228600" lIns="274320" rIns="274320"/>
          <a:lstStyle/>
          <a:p>
            <a:pPr algn="r">
              <a:spcAft>
                <a:spcPts val="1200"/>
              </a:spcAft>
              <a:defRPr sz="1600" b="1">
                <a:solidFill>
                  <a:srgbClr val="2563EB"/>
                </a:solidFill>
                <a:latin typeface="B Nazanin"/>
              </a:defRPr>
            </a:pPr>
            <a:r>
              <a:t>پایپ‌لاین محاسباتی ۵ مرحله‌ای</a:t>
            </a:r>
          </a:p>
          <a:p>
            <a:pPr algn="r">
              <a:lnSpc>
                <a:spcPct val="118000"/>
              </a:lnSpc>
              <a:spcAft>
                <a:spcPts val="1000"/>
              </a:spcAft>
              <a:defRPr sz="1300">
                <a:solidFill>
                  <a:srgbClr val="334155"/>
                </a:solidFill>
                <a:latin typeface="B Nazanin"/>
              </a:defRPr>
            </a:pPr>
            <a:r>
              <a:t>• مرحله ۱: استخراج قیمت پایه بر اساس نوع فرمت انتخابی (چاپی، PDF، EPUB، صوتی)</a:t>
            </a:r>
          </a:p>
          <a:p>
            <a:pPr algn="r">
              <a:lnSpc>
                <a:spcPct val="118000"/>
              </a:lnSpc>
              <a:spcAft>
                <a:spcPts val="1000"/>
              </a:spcAft>
              <a:defRPr sz="1300">
                <a:solidFill>
                  <a:srgbClr val="334155"/>
                </a:solidFill>
                <a:latin typeface="B Nazanin"/>
              </a:defRPr>
            </a:pPr>
            <a:r>
              <a:t>• مرحله ۲: اعمال تخفیف‌های زمانی کمپین‌های تبلیغاتی (Seasonal / Flash Promotions)</a:t>
            </a:r>
          </a:p>
          <a:p>
            <a:pPr algn="r">
              <a:lnSpc>
                <a:spcPct val="118000"/>
              </a:lnSpc>
              <a:spcAft>
                <a:spcPts val="1000"/>
              </a:spcAft>
              <a:defRPr sz="1300">
                <a:solidFill>
                  <a:srgbClr val="334155"/>
                </a:solidFill>
                <a:latin typeface="B Nazanin"/>
              </a:defRPr>
            </a:pPr>
            <a:r>
              <a:t>• مرحله ۳: محاسبه سهم کسر اشتراک VIP کاربر بر اساس پلن فعال (طلایی ۳۰٪، نقره‌ای ۱۵٪)</a:t>
            </a:r>
          </a:p>
          <a:p>
            <a:pPr algn="r">
              <a:lnSpc>
                <a:spcPct val="118000"/>
              </a:lnSpc>
              <a:spcAft>
                <a:spcPts val="1000"/>
              </a:spcAft>
              <a:defRPr sz="1300">
                <a:solidFill>
                  <a:srgbClr val="334155"/>
                </a:solidFill>
                <a:latin typeface="B Nazanin"/>
              </a:defRPr>
            </a:pPr>
            <a:r>
              <a:t>• مرحله ۴: اعتبارسنجی کد تخفیف کوپنی و اعمال روی مابه‌التفاوت خالص سبد خرید</a:t>
            </a:r>
          </a:p>
          <a:p>
            <a:pPr algn="r">
              <a:lnSpc>
                <a:spcPct val="118000"/>
              </a:lnSpc>
              <a:spcAft>
                <a:spcPts val="1000"/>
              </a:spcAft>
              <a:defRPr sz="1300">
                <a:solidFill>
                  <a:srgbClr val="334155"/>
                </a:solidFill>
                <a:latin typeface="B Nazanin"/>
              </a:defRPr>
            </a:pPr>
            <a:r>
              <a:t>• مرحله ۵: تضمین کف قیمت مجاز دیتابیس و جلوگیری از محاسبات منفی یا غیرمجاز</a:t>
            </a:r>
          </a:p>
        </p:txBody>
      </p:sp>
      <p:sp>
        <p:nvSpPr>
          <p:cNvPr id="8" name="Rounded Rectangle 7"/>
          <p:cNvSpPr/>
          <p:nvPr/>
        </p:nvSpPr>
        <p:spPr>
          <a:xfrm>
            <a:off x="4425696" y="164592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tIns="228600" bIns="228600" lIns="274320" rIns="274320"/>
          <a:lstStyle/>
          <a:p>
            <a:pPr algn="r">
              <a:spcAft>
                <a:spcPts val="1200"/>
              </a:spcAft>
              <a:defRPr sz="1600" b="1">
                <a:solidFill>
                  <a:srgbClr val="CA7900"/>
                </a:solidFill>
                <a:latin typeface="B Nazanin"/>
              </a:defRPr>
            </a:pPr>
            <a:r>
              <a:t>موتور تخفیف‌های انباشته (Stacking Engine)</a:t>
            </a:r>
          </a:p>
          <a:p>
            <a:pPr algn="r">
              <a:lnSpc>
                <a:spcPct val="118000"/>
              </a:lnSpc>
              <a:spcAft>
                <a:spcPts val="1000"/>
              </a:spcAft>
              <a:defRPr sz="1300">
                <a:solidFill>
                  <a:srgbClr val="334155"/>
                </a:solidFill>
                <a:latin typeface="B Nazanin"/>
              </a:defRPr>
            </a:pPr>
            <a:r>
              <a:t>• کنترل قوانین همپوشانی تخفیف‌ها (Non-Stackable vs Stackable Rules)</a:t>
            </a:r>
          </a:p>
          <a:p>
            <a:pPr algn="r">
              <a:lnSpc>
                <a:spcPct val="118000"/>
              </a:lnSpc>
              <a:spcAft>
                <a:spcPts val="1000"/>
              </a:spcAft>
              <a:defRPr sz="1300">
                <a:solidFill>
                  <a:srgbClr val="334155"/>
                </a:solidFill>
                <a:latin typeface="B Nazanin"/>
              </a:defRPr>
            </a:pPr>
            <a:r>
              <a:t>• اعتبارسنجی سخت‌گیرانه سقف استفاده کلی کوپن و سقف مجاز به ازای هر کاربر</a:t>
            </a:r>
          </a:p>
          <a:p>
            <a:pPr algn="r">
              <a:lnSpc>
                <a:spcPct val="118000"/>
              </a:lnSpc>
              <a:spcAft>
                <a:spcPts val="1000"/>
              </a:spcAft>
              <a:defRPr sz="1300">
                <a:solidFill>
                  <a:srgbClr val="334155"/>
                </a:solidFill>
                <a:latin typeface="B Nazanin"/>
              </a:defRPr>
            </a:pPr>
            <a:r>
              <a:t>• بررسی شرط حداقل ارزش سبد خرید (Minimum Basket Threshold) قبل از اعمال تخفیف</a:t>
            </a:r>
          </a:p>
          <a:p>
            <a:pPr algn="r">
              <a:lnSpc>
                <a:spcPct val="118000"/>
              </a:lnSpc>
              <a:spcAft>
                <a:spcPts val="1000"/>
              </a:spcAft>
              <a:defRPr sz="1300">
                <a:solidFill>
                  <a:srgbClr val="334155"/>
                </a:solidFill>
                <a:latin typeface="B Nazanin"/>
              </a:defRPr>
            </a:pPr>
            <a:r>
              <a:t>• محاسبه پویا در لحظه اعتبارسنجی بدون هاردکد کردن قیمت در فیلدهای استاتیک</a:t>
            </a:r>
          </a:p>
        </p:txBody>
      </p:sp>
      <p:sp>
        <p:nvSpPr>
          <p:cNvPr id="9" name="Rounded Rectangle 8"/>
          <p:cNvSpPr/>
          <p:nvPr/>
        </p:nvSpPr>
        <p:spPr>
          <a:xfrm>
            <a:off x="8119872" y="164592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tIns="228600" bIns="228600" lIns="274320" rIns="274320"/>
          <a:lstStyle/>
          <a:p>
            <a:pPr algn="r">
              <a:spcAft>
                <a:spcPts val="1200"/>
              </a:spcAft>
              <a:defRPr sz="1600" b="1">
                <a:solidFill>
                  <a:srgbClr val="059669"/>
                </a:solidFill>
                <a:latin typeface="B Nazanin"/>
              </a:defRPr>
            </a:pPr>
            <a:r>
              <a:t>ممیزی تاریخی قیمت و اشتراک VIP</a:t>
            </a:r>
          </a:p>
          <a:p>
            <a:pPr algn="r">
              <a:lnSpc>
                <a:spcPct val="118000"/>
              </a:lnSpc>
              <a:spcAft>
                <a:spcPts val="1000"/>
              </a:spcAft>
              <a:defRPr sz="1300">
                <a:solidFill>
                  <a:srgbClr val="334155"/>
                </a:solidFill>
                <a:latin typeface="B Nazanin"/>
              </a:defRPr>
            </a:pPr>
            <a:r>
              <a:t>• جدول تغییرناپذیر تاریخچه قیمت (Price History Audit) با ثبت زمان و شناسه مدیر مسئول</a:t>
            </a:r>
          </a:p>
          <a:p>
            <a:pPr algn="r">
              <a:lnSpc>
                <a:spcPct val="118000"/>
              </a:lnSpc>
              <a:spcAft>
                <a:spcPts val="1000"/>
              </a:spcAft>
              <a:defRPr sz="1300">
                <a:solidFill>
                  <a:srgbClr val="334155"/>
                </a:solidFill>
                <a:latin typeface="B Nazanin"/>
              </a:defRPr>
            </a:pPr>
            <a:r>
              <a:t>• ثبت دائمی قیمت قبلی، قیمت جدید و علت تغییر برای رصد ممیزی و بازرسی‌های مالی</a:t>
            </a:r>
          </a:p>
          <a:p>
            <a:pPr algn="r">
              <a:lnSpc>
                <a:spcPct val="118000"/>
              </a:lnSpc>
              <a:spcAft>
                <a:spcPts val="1000"/>
              </a:spcAft>
              <a:defRPr sz="1300">
                <a:solidFill>
                  <a:srgbClr val="334155"/>
                </a:solidFill>
                <a:latin typeface="B Nazanin"/>
              </a:defRPr>
            </a:pPr>
            <a:r>
              <a:t>• چرخه ۳۰ روزه اشتراک‌های VIP با کسر خودکار و رزرو دوره بعدی</a:t>
            </a:r>
          </a:p>
          <a:p>
            <a:pPr algn="r">
              <a:lnSpc>
                <a:spcPct val="118000"/>
              </a:lnSpc>
              <a:spcAft>
                <a:spcPts val="1000"/>
              </a:spcAft>
              <a:defRPr sz="1300">
                <a:solidFill>
                  <a:srgbClr val="334155"/>
                </a:solidFill>
                <a:latin typeface="B Nazanin"/>
              </a:defRPr>
            </a:pPr>
            <a:r>
              <a:t>• فرمول بازپرداخت نسبی و منصفانه (Prorated Refund) به کیف‌پول هنگام انصراف از اشتراک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167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65760"/>
            <a:ext cx="347472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CA7900"/>
                </a:solidFill>
                <a:latin typeface="B Nazanin"/>
              </a:defRPr>
            </a:pPr>
            <a:r>
              <a:t>تخصصی بک‌اند: امنیت تراکنش‌ها</a:t>
            </a:r>
          </a:p>
        </p:txBody>
      </p:sp>
      <p:sp>
        <p:nvSpPr>
          <p:cNvPr id="5" name="TextBox 4"/>
          <p:cNvSpPr txBox="1"/>
          <p:nvPr/>
        </p:nvSpPr>
        <p:spPr>
          <a:xfrm>
            <a:off x="731520" y="777240"/>
            <a:ext cx="10698480" cy="731520"/>
          </a:xfrm>
          <a:prstGeom prst="rect">
            <a:avLst/>
          </a:prstGeom>
          <a:noFill/>
        </p:spPr>
        <p:txBody>
          <a:bodyPr wrap="square">
            <a:spAutoFit/>
          </a:bodyPr>
          <a:lstStyle/>
          <a:p>
            <a:pPr algn="r">
              <a:defRPr sz="2400" b="1">
                <a:solidFill>
                  <a:srgbClr val="1E293B"/>
                </a:solidFill>
                <a:latin typeface="B Nazanin"/>
              </a:defRPr>
            </a:pPr>
            <a:r>
              <a:t>دفترکل مالی کیف‌پول، کنترل همزمانی و تسویه اتمیک (Financial Ledger)</a:t>
            </a:r>
          </a:p>
        </p:txBody>
      </p:sp>
      <p:sp>
        <p:nvSpPr>
          <p:cNvPr id="6" name="TextBox 5"/>
          <p:cNvSpPr txBox="1"/>
          <p:nvPr/>
        </p:nvSpPr>
        <p:spPr>
          <a:xfrm>
            <a:off x="731520" y="1371600"/>
            <a:ext cx="10698480" cy="411480"/>
          </a:xfrm>
          <a:prstGeom prst="rect">
            <a:avLst/>
          </a:prstGeom>
          <a:noFill/>
        </p:spPr>
        <p:txBody>
          <a:bodyPr wrap="square">
            <a:spAutoFit/>
          </a:bodyPr>
          <a:lstStyle/>
          <a:p>
            <a:pPr algn="r">
              <a:defRPr sz="1400">
                <a:solidFill>
                  <a:srgbClr val="64748B"/>
                </a:solidFill>
                <a:latin typeface="B Nazanin"/>
              </a:defRPr>
            </a:pPr>
            <a:r>
              <a:t>دفترکل حسابداری دوطرفه، قفل‌های همزمانی ضد تقلب و اسنپ‌شات تغییرناپذیر سفارش</a:t>
            </a:r>
          </a:p>
        </p:txBody>
      </p:sp>
      <p:sp>
        <p:nvSpPr>
          <p:cNvPr id="7" name="Rounded Rectangle 6"/>
          <p:cNvSpPr/>
          <p:nvPr/>
        </p:nvSpPr>
        <p:spPr>
          <a:xfrm>
            <a:off x="731520" y="164592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tIns="228600" bIns="228600" lIns="274320" rIns="274320"/>
          <a:lstStyle/>
          <a:p>
            <a:pPr algn="r">
              <a:spcAft>
                <a:spcPts val="1200"/>
              </a:spcAft>
              <a:defRPr sz="1600" b="1">
                <a:solidFill>
                  <a:srgbClr val="2D3546"/>
                </a:solidFill>
                <a:latin typeface="B Nazanin"/>
              </a:defRPr>
            </a:pPr>
            <a:r>
              <a:t>دفترکل دوطرفه (Double-Entry Ledger)</a:t>
            </a:r>
          </a:p>
          <a:p>
            <a:pPr algn="r">
              <a:lnSpc>
                <a:spcPct val="118000"/>
              </a:lnSpc>
              <a:spcAft>
                <a:spcPts val="1000"/>
              </a:spcAft>
              <a:defRPr sz="1300">
                <a:solidFill>
                  <a:srgbClr val="334155"/>
                </a:solidFill>
                <a:latin typeface="B Nazanin"/>
              </a:defRPr>
            </a:pPr>
            <a:r>
              <a:t>• ثبت مستقل تمامی رویدادهای مالی (شارژ حساب، کسر خرید، استرداد لغو سفارش)</a:t>
            </a:r>
          </a:p>
          <a:p>
            <a:pPr algn="r">
              <a:lnSpc>
                <a:spcPct val="118000"/>
              </a:lnSpc>
              <a:spcAft>
                <a:spcPts val="1000"/>
              </a:spcAft>
              <a:defRPr sz="1300">
                <a:solidFill>
                  <a:srgbClr val="334155"/>
                </a:solidFill>
                <a:latin typeface="B Nazanin"/>
              </a:defRPr>
            </a:pPr>
            <a:r>
              <a:t>• رعایت دقت اعشاری بالا (Decimal Precision) در سطح دیتابیس و جنگو بدون کسری</a:t>
            </a:r>
          </a:p>
          <a:p>
            <a:pPr algn="r">
              <a:lnSpc>
                <a:spcPct val="118000"/>
              </a:lnSpc>
              <a:spcAft>
                <a:spcPts val="1000"/>
              </a:spcAft>
              <a:defRPr sz="1300">
                <a:solidFill>
                  <a:srgbClr val="334155"/>
                </a:solidFill>
                <a:latin typeface="B Nazanin"/>
              </a:defRPr>
            </a:pPr>
            <a:r>
              <a:t>• ارائه صورت‌حساب مالی تفکیک‌شده و شفاف برای کاربر و حسابداری پلتفرم</a:t>
            </a:r>
          </a:p>
          <a:p>
            <a:pPr algn="r">
              <a:lnSpc>
                <a:spcPct val="118000"/>
              </a:lnSpc>
              <a:spcAft>
                <a:spcPts val="1000"/>
              </a:spcAft>
              <a:defRPr sz="1300">
                <a:solidFill>
                  <a:srgbClr val="334155"/>
                </a:solidFill>
                <a:latin typeface="B Nazanin"/>
              </a:defRPr>
            </a:pPr>
            <a:r>
              <a:t>• تطبیق بلادرنگ موجودی فعلی با مجموع تاریخی لاگ تراکنش‌ها جهت راستی‌آزمایی</a:t>
            </a:r>
          </a:p>
        </p:txBody>
      </p:sp>
      <p:sp>
        <p:nvSpPr>
          <p:cNvPr id="8" name="Rounded Rectangle 7"/>
          <p:cNvSpPr/>
          <p:nvPr/>
        </p:nvSpPr>
        <p:spPr>
          <a:xfrm>
            <a:off x="4425696" y="164592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tIns="228600" bIns="228600" lIns="274320" rIns="274320"/>
          <a:lstStyle/>
          <a:p>
            <a:pPr algn="r">
              <a:spcAft>
                <a:spcPts val="1200"/>
              </a:spcAft>
              <a:defRPr sz="1600" b="1">
                <a:solidFill>
                  <a:srgbClr val="CA7900"/>
                </a:solidFill>
                <a:latin typeface="B Nazanin"/>
              </a:defRPr>
            </a:pPr>
            <a:r>
              <a:t>کنترل همزمانی با select_for_update</a:t>
            </a:r>
          </a:p>
          <a:p>
            <a:pPr algn="r">
              <a:lnSpc>
                <a:spcPct val="118000"/>
              </a:lnSpc>
              <a:spcAft>
                <a:spcPts val="1000"/>
              </a:spcAft>
              <a:defRPr sz="1300">
                <a:solidFill>
                  <a:srgbClr val="334155"/>
                </a:solidFill>
                <a:latin typeface="B Nazanin"/>
              </a:defRPr>
            </a:pPr>
            <a:r>
              <a:t>• قفل ردیف دیتابیس (Row-level Lock) روی کیف‌پول کاربر در لحظه آغاز پرداخت</a:t>
            </a:r>
          </a:p>
          <a:p>
            <a:pPr algn="r">
              <a:lnSpc>
                <a:spcPct val="118000"/>
              </a:lnSpc>
              <a:spcAft>
                <a:spcPts val="1000"/>
              </a:spcAft>
              <a:defRPr sz="1300">
                <a:solidFill>
                  <a:srgbClr val="334155"/>
                </a:solidFill>
                <a:latin typeface="B Nazanin"/>
              </a:defRPr>
            </a:pPr>
            <a:r>
              <a:t>• پیشگیری قطعی از پدیده Race Condition و برداشت تکراری (Double-Spending)</a:t>
            </a:r>
          </a:p>
          <a:p>
            <a:pPr algn="r">
              <a:lnSpc>
                <a:spcPct val="118000"/>
              </a:lnSpc>
              <a:spcAft>
                <a:spcPts val="1000"/>
              </a:spcAft>
              <a:defRPr sz="1300">
                <a:solidFill>
                  <a:srgbClr val="334155"/>
                </a:solidFill>
                <a:latin typeface="B Nazanin"/>
              </a:defRPr>
            </a:pPr>
            <a:r>
              <a:t>• اجرای تمام مراحل پرداخت در تراکنش اتمیک جنگو (transaction.atomic)</a:t>
            </a:r>
          </a:p>
          <a:p>
            <a:pPr algn="r">
              <a:lnSpc>
                <a:spcPct val="118000"/>
              </a:lnSpc>
              <a:spcAft>
                <a:spcPts val="1000"/>
              </a:spcAft>
              <a:defRPr sz="1300">
                <a:solidFill>
                  <a:srgbClr val="334155"/>
                </a:solidFill>
                <a:latin typeface="B Nazanin"/>
              </a:defRPr>
            </a:pPr>
            <a:r>
              <a:t>• Rollback خودکار و بازگشت کامل تمام تغییرات در صورت بروز هرگونه قطعی یا خطا</a:t>
            </a:r>
          </a:p>
        </p:txBody>
      </p:sp>
      <p:sp>
        <p:nvSpPr>
          <p:cNvPr id="9" name="Rounded Rectangle 8"/>
          <p:cNvSpPr/>
          <p:nvPr/>
        </p:nvSpPr>
        <p:spPr>
          <a:xfrm>
            <a:off x="8119872" y="164592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tIns="228600" bIns="228600" lIns="274320" rIns="274320"/>
          <a:lstStyle/>
          <a:p>
            <a:pPr algn="r">
              <a:spcAft>
                <a:spcPts val="1200"/>
              </a:spcAft>
              <a:defRPr sz="1600" b="1">
                <a:solidFill>
                  <a:srgbClr val="2563EB"/>
                </a:solidFill>
                <a:latin typeface="B Nazanin"/>
              </a:defRPr>
            </a:pPr>
            <a:r>
              <a:t>اسنپ‌شات سفارش و لایسنس DRM</a:t>
            </a:r>
          </a:p>
          <a:p>
            <a:pPr algn="r">
              <a:lnSpc>
                <a:spcPct val="118000"/>
              </a:lnSpc>
              <a:spcAft>
                <a:spcPts val="1000"/>
              </a:spcAft>
              <a:defRPr sz="1300">
                <a:solidFill>
                  <a:srgbClr val="334155"/>
                </a:solidFill>
                <a:latin typeface="B Nazanin"/>
              </a:defRPr>
            </a:pPr>
            <a:r>
              <a:t>• اسنپ‌شات تغییرناپذیر سفارش (Immutable Order Snapshot): فریز قیمت، مشخصات و آدرس</a:t>
            </a:r>
          </a:p>
          <a:p>
            <a:pPr algn="r">
              <a:lnSpc>
                <a:spcPct val="118000"/>
              </a:lnSpc>
              <a:spcAft>
                <a:spcPts val="1000"/>
              </a:spcAft>
              <a:defRPr sz="1300">
                <a:solidFill>
                  <a:srgbClr val="334155"/>
                </a:solidFill>
                <a:latin typeface="B Nazanin"/>
              </a:defRPr>
            </a:pPr>
            <a:r>
              <a:t>• تضمین ثبات سوابق خرید حتی در صورت ویرایش یا حذف بعدی کتاب در کاتالوگ</a:t>
            </a:r>
          </a:p>
          <a:p>
            <a:pPr algn="r">
              <a:lnSpc>
                <a:spcPct val="118000"/>
              </a:lnSpc>
              <a:spcAft>
                <a:spcPts val="1000"/>
              </a:spcAft>
              <a:defRPr sz="1300">
                <a:solidFill>
                  <a:srgbClr val="334155"/>
                </a:solidFill>
                <a:latin typeface="B Nazanin"/>
              </a:defRPr>
            </a:pPr>
            <a:r>
              <a:t>• صدور آنی لایسنس دیجیتال با کلیدهای امنیتی بلافاصله پس از تکمیل تراکنش</a:t>
            </a:r>
          </a:p>
          <a:p>
            <a:pPr algn="r">
              <a:lnSpc>
                <a:spcPct val="118000"/>
              </a:lnSpc>
              <a:spcAft>
                <a:spcPts val="1000"/>
              </a:spcAft>
              <a:defRPr sz="1300">
                <a:solidFill>
                  <a:srgbClr val="334155"/>
                </a:solidFill>
                <a:latin typeface="B Nazanin"/>
              </a:defRPr>
            </a:pPr>
            <a:r>
              <a:t>• تعلیق یا بازپس‌گیری خودکار لایسنس DRM در صورت استرداد یا لغو موفق سفارش</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